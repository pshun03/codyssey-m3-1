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Paperlogy 4 Regular" pitchFamily="2" charset="-127"/>
      <p:regular r:id="rId20"/>
    </p:embeddedFont>
    <p:embeddedFont>
      <p:font typeface="Paperlogy 5 Medium" pitchFamily="2" charset="-127"/>
      <p:regular r:id="rId21"/>
    </p:embeddedFont>
    <p:embeddedFont>
      <p:font typeface="Paperlogy 6 SemiBold" pitchFamily="2" charset="-127"/>
      <p:bold r:id="rId22"/>
    </p:embeddedFont>
    <p:embeddedFont>
      <p:font typeface="Paperlogy 7 Bold" pitchFamily="2" charset="-127"/>
      <p:bold r:id="rId23"/>
    </p:embeddedFont>
    <p:embeddedFont>
      <p:font typeface="Paperlogy 8 ExtraBold" pitchFamily="2" charset="-127"/>
      <p:bold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col"/>
        <c:grouping val="clustered"/>
        <c:varyColors val="1"/>
        <c:ser>
          <c:idx val="0"/>
          <c:order val="0"/>
          <c:tx>
            <c:strRef>
              <c:f>Sheet1!$B$1</c:f>
              <c:strCache>
                <c:ptCount val="1"/>
                <c:pt idx="0">
                  <c:v>2022년</c:v>
                </c:pt>
              </c:strCache>
            </c:strRef>
          </c:tx>
          <c:spPr>
            <a:solidFill>
              <a:srgbClr val="C9C4BE"/>
            </a:solidFill>
          </c:spPr>
          <c:invertIfNegative val="1"/>
          <c:dLbls>
            <c:numFmt formatCode="0.0" sourceLinked="0"/>
            <c:spPr>
              <a:noFill/>
              <a:ln>
                <a:noFill/>
              </a:ln>
              <a:effectLst/>
            </c:spPr>
            <c:txPr>
              <a:bodyPr/>
              <a:lstStyle/>
              <a:p>
                <a:pPr>
                  <a:defRPr sz="160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재무목표 세우기</c:v>
                </c:pt>
                <c:pt idx="1">
                  <c:v>재무 점검하기</c:v>
                </c:pt>
              </c:strCache>
            </c:strRef>
          </c:cat>
          <c:val>
            <c:numRef>
              <c:f>Sheet1!$B$2:$B$3</c:f>
              <c:numCache>
                <c:formatCode>General</c:formatCode>
                <c:ptCount val="2"/>
                <c:pt idx="0">
                  <c:v>48</c:v>
                </c:pt>
                <c:pt idx="1">
                  <c:v>55.8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7B5-4309-A511-C86B169D7E7C}"/>
            </c:ext>
          </c:extLst>
        </c:ser>
        <c:ser>
          <c:idx val="1"/>
          <c:order val="1"/>
          <c:tx>
            <c:strRef>
              <c:f>Sheet1!$C$1</c:f>
              <c:strCache>
                <c:ptCount val="1"/>
                <c:pt idx="0">
                  <c:v>2024년</c:v>
                </c:pt>
              </c:strCache>
            </c:strRef>
          </c:tx>
          <c:spPr>
            <a:solidFill>
              <a:srgbClr val="DD5B00"/>
            </a:solidFill>
          </c:spPr>
          <c:invertIfNegative val="1"/>
          <c:dLbls>
            <c:numFmt formatCode="0.0" sourceLinked="0"/>
            <c:spPr>
              <a:noFill/>
              <a:ln>
                <a:noFill/>
              </a:ln>
              <a:effectLst/>
            </c:spPr>
            <c:txPr>
              <a:bodyPr/>
              <a:lstStyle/>
              <a:p>
                <a:pPr>
                  <a:defRPr sz="160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재무목표 세우기</c:v>
                </c:pt>
                <c:pt idx="1">
                  <c:v>재무 점검하기</c:v>
                </c:pt>
              </c:strCache>
            </c:strRef>
          </c:cat>
          <c:val>
            <c:numRef>
              <c:f>Sheet1!$C$2:$C$3</c:f>
              <c:numCache>
                <c:formatCode>General</c:formatCode>
                <c:ptCount val="2"/>
                <c:pt idx="0">
                  <c:v>36.1</c:v>
                </c:pt>
                <c:pt idx="1">
                  <c:v>33.200000000000003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7B5-4309-A511-C86B169D7E7C}"/>
            </c:ext>
          </c:extLst>
        </c:ser>
        <c:dLbls>
          <c:dLblPos val="outEnd"/>
          <c:showLegendKey val="0"/>
          <c:showVal val="1"/>
          <c:showCatName val="0"/>
          <c:showSerName val="0"/>
          <c:showPercent val="0"/>
          <c:showBubbleSize val="0"/>
        </c:dLbls>
        <c:gapWidth val="70"/>
        <c:overlap val="-1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6E6E6"/>
            </a:solidFill>
          </a:ln>
        </c:spPr>
        <c:txPr>
          <a:bodyPr/>
          <a:lstStyle/>
          <a:p>
            <a:pPr>
              <a:defRPr sz="1500"/>
            </a:pPr>
            <a:endParaRPr lang="ko-KR"/>
          </a:p>
        </c:txPr>
        <c:crossAx val="-2113994440"/>
        <c:crosses val="autoZero"/>
        <c:auto val="1"/>
        <c:lblAlgn val="ctr"/>
        <c:lblOffset val="100"/>
        <c:noMultiLvlLbl val="0"/>
      </c:catAx>
      <c:valAx>
        <c:axId val="-2113994440"/>
        <c:scaling>
          <c:orientation val="minMax"/>
          <c:max val="70"/>
          <c:min val="0"/>
        </c:scaling>
        <c:delete val="0"/>
        <c:axPos val="l"/>
        <c:majorGridlines>
          <c:spPr>
            <a:ln>
              <a:solidFill>
                <a:srgbClr val="E6E6E6"/>
              </a:solidFill>
            </a:ln>
          </c:spPr>
        </c:majorGridlines>
        <c:numFmt formatCode="General" sourceLinked="1"/>
        <c:majorTickMark val="out"/>
        <c:minorTickMark val="none"/>
        <c:tickLblPos val="nextTo"/>
        <c:spPr>
          <a:ln>
            <a:noFill/>
          </a:ln>
        </c:spPr>
        <c:txPr>
          <a:bodyPr/>
          <a:lstStyle/>
          <a:p>
            <a:pPr>
              <a:defRPr sz="1200">
                <a:solidFill>
                  <a:srgbClr val="A39E98"/>
                </a:solidFill>
              </a:defRPr>
            </a:pPr>
            <a:endParaRPr lang="ko-KR"/>
          </a:p>
        </c:txPr>
        <c:crossAx val="-2068027336"/>
        <c:crosses val="autoZero"/>
        <c:crossBetween val="between"/>
      </c:valAx>
    </c:plotArea>
    <c:legend>
      <c:legendPos val="t"/>
      <c:overlay val="0"/>
      <c:txPr>
        <a:bodyPr/>
        <a:lstStyle/>
        <a:p>
          <a:pPr>
            <a:defRPr sz="1300"/>
          </a:pPr>
          <a:endParaRPr lang="ko-KR"/>
        </a:p>
      </c:txPr>
    </c:legend>
    <c:plotVisOnly val="1"/>
    <c:dispBlanksAs val="gap"/>
    <c:showDLblsOverMax val="1"/>
  </c:chart>
  <c:txPr>
    <a:bodyPr/>
    <a:lstStyle/>
    <a:p>
      <a:pPr>
        <a:defRPr sz="1400">
          <a:latin typeface="Paperlogy 4 Regula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08826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안녕하세요, 팀 ○○○입니다. 저희는 사회초년생이 첫 월급부터 자산을 만들고, 그 계획을 끝까지 지키도록 돕는 AI 코치 '사다리'를 만들었습니다. '끊어진 계층 사다리의 첫 칸을 다시 놓는다'는 뜻을 담았습니다.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문제입니다. 같은 청년층 안에서도 순자산 상위 20%와 하위 20%의 격차는 40배가 넘습니다. 그런데 이 격차는 정책이 없어서 생기는 게 아닙니다. 20대의 금융이해력은 가장 낮고, 정책은 찾기 어렵고, 가입해도 중간에 해지합니다. 판단하고, 실행하고, 유지하는 능력의 차이가 격차를 만든다고 봤습니다.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특히 눈에 띄는 건 20대의 '재무목표'와 '재무점검' 점수입니다. 2년 만에 각각 12점, 22점이 떨어졌습니다. 그래서 사다리는 목표는 계산 엔진이 함께 세우고, 점검은 매주 코치가 함께하는 구조로 설계했습니다.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청년들의 문제를 네 가지로 정리했습니다. 무엇부터 할지 모르고, 맞는 혜택을 못 찾고, 가입해도 유지를 못 하고, 애초에 모을 돈이 없다는 것입니다. 사다리의 기능은 이 네 가지에 하나씩 대응하도록 설계했습니다.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기존 자산관리 앱은 조회와 분석에, 정책 포털은 목록 제공에 머뭅니다. 사다리는 내 현금흐름과 청년 정책, 그리고 목표를 하나의 실행 계획으로 묶고, 그 계획이 무너지지 않도록 곁에서 코칭합니다. 계좌를 자동으로 연결하지 않는 대신 민감정보를 받지 않고, 상품을 팔지 않아 중립적입니다.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사다리는 진단, 설계, 매칭, 실행, 유지의 다섯 단계로 동작합니다. 가상 인물 지우로 예를 들면, 5분 진단 후 월 65만 원 저축 플랜을 받고, 청년미래적금으로 3년간 약 199만 원의 기여금을 받을 수 있다는 걸 알게 됩니다. 그리고 '이번 달 30만 원 더 써도 될까?'라고 물으면, 목표 저축이 16만 원으로 줄어든다는 걸 숫자로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실제로 동작하는 화면입니다. 진단은 한 화면에 질문 하나씩, 금액은 만 원 단위로 받습니다. 홈에서 이번 달 저축과 목표를 보고, 플랜 화면에서 배분 이유를 확인합니다. 혜택 화면은 자격 조건을 하나씩 판정해 보여주고, 코치는 계산 엔진의 숫자로 답합니다. (라이브 데모로 전환)</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AI를 어떻게 설계했는지 말씀드리겠습니다. 원칙은 하나입니다. 틀리면 안 되는 것은 코드로, 근거는 공식 문서에서, 대화와 설명만 AI가 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AI를 쓰는 곳과 쓰지 않는 곳을 명확히 나눴습니다. 금액 계산과 자격 판정은 틀리면 안 되기 때문에 결정론적인 코드가 맡습니다. AI는 목표 문장을 해석하고, 질문에 맞는 도구를 고르고, 결과를 쉽게 설명하는 역할만 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코치의 구조입니다. 질문이 들어오면 먼저 입력 가드레일이 민감정보를 가리고 투자 권유 요청을 걸러냅니다. 코치 Agent는 질문에 맞는 도구를 골라 호출하는데, 도구는 7개이고 모든 금액은 도구가 계산합니다. 답변은 출력 가드레일에서 권유 문구와 근거 없는 금액을 한 번 더 확인한 뒤, 출처와 함께 스트리밍으로 전달되고, 약속은 장기 메모리에 저장됩니다.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RAG는 네 단계입니다. 출처와 기준일이 붙은 정책 데이터를 BM25로 검색하고, 자격은 LLM이 아니라 규칙 코드가 판정합니다. 가구소득처럼 사다리가 알 수 없는 조건은 '조건 확인 필요'로 솔직하게 표시하고, 모집 기간이 끝난 정책은 '지금은 신청 불가'로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안전장치는 입력 두 겹, 출력 두 겹으로 총 네 겹입니다. 그리고 AI 품질을 느낌이 아니라 숫자로 관리합니다. 자동 테스트 79개, 정책 검색 정답률, 투자 권유 탐지율을 CI에서 매번 측정하고, 평가셋은 각각 40문항과 30문항으로 늘리고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구현은 '단순하게, 설명할 수 있게'를 원칙으로 했습니다. 화면과 API를 FastAPI 하나로 만들고, Agent도 프레임워크 없이 짧은 루프로 작성해서 팀원 누구나 설명할 수 있습니다. 기획 초안에서 바뀐 결정은 모두 ADR로 남겨, 왜 바꿨는지 추적할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협업 구조입니다. 필수 기능으로 MVP 기반을 먼저 만들고, 나머지 기능을 역할별 이슈 26개로 나눠 다섯 명이 균형 있게 맡았습니다. 모든 작업은 이슈에서 시작해 PR 리뷰와 CI 검증을 거쳐야 머지되고, 머지되면 자동으로 배포됩니다. 이 기록이 모두 GitHub에 남습니다.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[테스트 후 작성] 사용자 테스트는 10명을 대상으로 1주일간 진행했습니다. 핵심 지표와, 피드백을 받아 실제로 무엇을 바꿨는지를 Before/After로 보여드립니다.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개인에게는 첫 월급부터의 실행 계획을, 사회적으로는 정보 격차가 자산 격차로 이어지는 고리를 끊는 데 기여합니다. 비즈니스는 공공성이 큰 청년센터와 대학을 첫 시장으로 보고 있으며, 투자자문이나 상품 중개는 하지 않아 규제 리스크를 줄였습니다.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사다리는 청년의 첫 칸을 함께 놓는 코치입니다. 예시 계정으로 지금 바로 써 보실 수 있습니다. 감사합니다. 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3183"/>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420624" cy="420624"/>
          </a:xfrm>
          <a:prstGeom prst="roundRect">
            <a:avLst>
              <a:gd name="adj" fmla="val 27499"/>
            </a:avLst>
          </a:prstGeom>
          <a:solidFill>
            <a:srgbClr val="9FE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53796" y="657453"/>
            <a:ext cx="105155"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53796" y="568071"/>
            <a:ext cx="157734"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3796" y="478688"/>
            <a:ext cx="210311"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384048"/>
            <a:ext cx="1737360" cy="420624"/>
          </a:xfrm>
          <a:prstGeom prst="roundRect">
            <a:avLst>
              <a:gd name="adj" fmla="val 21739"/>
            </a:avLst>
          </a:prstGeom>
          <a:noFill/>
          <a:ln w="9525">
            <a:solidFill>
              <a:srgbClr val="A9B2DE"/>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150" b="0">
                <a:solidFill>
                  <a:srgbClr val="A9B2DE"/>
                </a:solidFill>
                <a:latin typeface="Paperlogy 4 Regular"/>
                <a:ea typeface="Paperlogy 4 Regular"/>
                <a:cs typeface="Paperlogy 4 Regular"/>
              </a:rPr>
              <a:t>워드마크 · 서체 미정</a:t>
            </a:r>
          </a:p>
        </p:txBody>
      </p:sp>
      <p:sp>
        <p:nvSpPr>
          <p:cNvPr id="7" name="TextBox 6"/>
          <p:cNvSpPr txBox="1"/>
          <p:nvPr/>
        </p:nvSpPr>
        <p:spPr>
          <a:xfrm>
            <a:off x="548640" y="1783080"/>
            <a:ext cx="7498079" cy="320040"/>
          </a:xfrm>
          <a:prstGeom prst="rect">
            <a:avLst/>
          </a:prstGeom>
          <a:noFill/>
        </p:spPr>
        <p:txBody>
          <a:bodyPr wrap="square" lIns="0" tIns="0" rIns="0" bIns="0" anchor="t">
            <a:noAutofit/>
          </a:bodyPr>
          <a:lstStyle/>
          <a:p>
            <a:pPr algn="l">
              <a:spcAft>
                <a:spcPts val="0"/>
              </a:spcAft>
            </a:pPr>
            <a:r>
              <a:rPr lang="ko-KR" sz="1200" b="0" spc="10">
                <a:solidFill>
                  <a:srgbClr val="62AEF0"/>
                </a:solidFill>
                <a:latin typeface="Paperlogy 6 SemiBold"/>
                <a:ea typeface="Paperlogy 6 SemiBold"/>
                <a:cs typeface="Paperlogy 6 SemiBold"/>
              </a:rPr>
              <a:t>코디세이 AI 네이티브 Final-Project  ·  금융</a:t>
            </a:r>
          </a:p>
        </p:txBody>
      </p:sp>
      <p:sp>
        <p:nvSpPr>
          <p:cNvPr id="8" name="TextBox 7"/>
          <p:cNvSpPr txBox="1"/>
          <p:nvPr/>
        </p:nvSpPr>
        <p:spPr>
          <a:xfrm>
            <a:off x="548640" y="2240280"/>
            <a:ext cx="7680960" cy="1920240"/>
          </a:xfrm>
          <a:prstGeom prst="rect">
            <a:avLst/>
          </a:prstGeom>
          <a:noFill/>
        </p:spPr>
        <p:txBody>
          <a:bodyPr wrap="square" lIns="0" tIns="0" rIns="0" bIns="0" anchor="t">
            <a:noAutofit/>
          </a:bodyPr>
          <a:lstStyle/>
          <a:p>
            <a:pPr algn="l">
              <a:lnSpc>
                <a:spcPct val="105000"/>
              </a:lnSpc>
              <a:spcAft>
                <a:spcPts val="0"/>
              </a:spcAft>
            </a:pPr>
            <a:r>
              <a:rPr lang="ko-KR" sz="6000" b="0" spc="-150">
                <a:solidFill>
                  <a:srgbClr val="FFFFFF"/>
                </a:solidFill>
                <a:latin typeface="Paperlogy 7 Bold"/>
                <a:ea typeface="Paperlogy 7 Bold"/>
                <a:cs typeface="Paperlogy 7 Bold"/>
              </a:rPr>
              <a:t>끊어진 사다리,</a:t>
            </a:r>
          </a:p>
          <a:p>
            <a:pPr algn="l">
              <a:lnSpc>
                <a:spcPct val="105000"/>
              </a:lnSpc>
              <a:spcAft>
                <a:spcPts val="0"/>
              </a:spcAft>
            </a:pPr>
            <a:r>
              <a:rPr lang="ko-KR" sz="6000" b="0" spc="-150">
                <a:solidFill>
                  <a:srgbClr val="FFFFFF"/>
                </a:solidFill>
                <a:latin typeface="Paperlogy 7 Bold"/>
                <a:ea typeface="Paperlogy 7 Bold"/>
                <a:cs typeface="Paperlogy 7 Bold"/>
              </a:rPr>
              <a:t>첫 칸부터 다시 놓는다</a:t>
            </a:r>
          </a:p>
        </p:txBody>
      </p:sp>
      <p:sp>
        <p:nvSpPr>
          <p:cNvPr id="9" name="TextBox 8"/>
          <p:cNvSpPr txBox="1"/>
          <p:nvPr/>
        </p:nvSpPr>
        <p:spPr>
          <a:xfrm>
            <a:off x="548640" y="4224528"/>
            <a:ext cx="7498079" cy="365760"/>
          </a:xfrm>
          <a:prstGeom prst="rect">
            <a:avLst/>
          </a:prstGeom>
          <a:noFill/>
        </p:spPr>
        <p:txBody>
          <a:bodyPr wrap="square" lIns="0" tIns="0" rIns="0" bIns="0" anchor="t">
            <a:noAutofit/>
          </a:bodyPr>
          <a:lstStyle/>
          <a:p>
            <a:pPr algn="l">
              <a:spcAft>
                <a:spcPts val="0"/>
              </a:spcAft>
            </a:pPr>
            <a:r>
              <a:rPr lang="ko-KR" sz="1900" b="0" spc="-20">
                <a:solidFill>
                  <a:srgbClr val="D9DDF2"/>
                </a:solidFill>
                <a:latin typeface="Paperlogy 7 Bold"/>
                <a:ea typeface="Paperlogy 7 Bold"/>
                <a:cs typeface="Paperlogy 7 Bold"/>
              </a:rPr>
              <a:t>사회초년생을 위한 개인별 자산관리 AI 코치, 사다리</a:t>
            </a:r>
          </a:p>
        </p:txBody>
      </p:sp>
      <p:sp>
        <p:nvSpPr>
          <p:cNvPr id="10" name="Rounded Rectangle 9"/>
          <p:cNvSpPr/>
          <p:nvPr/>
        </p:nvSpPr>
        <p:spPr>
          <a:xfrm>
            <a:off x="548640" y="4937760"/>
            <a:ext cx="1737360" cy="475488"/>
          </a:xfrm>
          <a:prstGeom prst="roundRect">
            <a:avLst>
              <a:gd name="adj" fmla="val 50000"/>
            </a:avLst>
          </a:prstGeom>
          <a:solidFill>
            <a:srgbClr val="0075D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500" b="0">
                <a:solidFill>
                  <a:srgbClr val="FFFFFF"/>
                </a:solidFill>
                <a:latin typeface="Paperlogy 5 Medium"/>
                <a:ea typeface="Paperlogy 5 Medium"/>
                <a:cs typeface="Paperlogy 5 Medium"/>
              </a:rPr>
              <a:t>라이브 데모</a:t>
            </a:r>
          </a:p>
        </p:txBody>
      </p:sp>
      <p:sp>
        <p:nvSpPr>
          <p:cNvPr id="11" name="Rounded Rectangle 10"/>
          <p:cNvSpPr/>
          <p:nvPr/>
        </p:nvSpPr>
        <p:spPr>
          <a:xfrm>
            <a:off x="2423160" y="4937760"/>
            <a:ext cx="1737360" cy="475488"/>
          </a:xfrm>
          <a:prstGeom prst="roundRect">
            <a:avLst>
              <a:gd name="adj" fmla="val 50000"/>
            </a:avLst>
          </a:prstGeom>
          <a:solidFill>
            <a:srgbClr val="FFFFFF"/>
          </a:solidFill>
          <a:ln>
            <a:no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500" b="0">
                <a:solidFill>
                  <a:srgbClr val="111111"/>
                </a:solidFill>
                <a:latin typeface="Paperlogy 5 Medium"/>
                <a:ea typeface="Paperlogy 5 Medium"/>
                <a:cs typeface="Paperlogy 5 Medium"/>
              </a:rPr>
              <a:t>GitHub 저장소</a:t>
            </a:r>
          </a:p>
        </p:txBody>
      </p:sp>
      <p:sp>
        <p:nvSpPr>
          <p:cNvPr id="12" name="TextBox 11"/>
          <p:cNvSpPr txBox="1"/>
          <p:nvPr/>
        </p:nvSpPr>
        <p:spPr>
          <a:xfrm>
            <a:off x="548640" y="6172200"/>
            <a:ext cx="7315200" cy="274320"/>
          </a:xfrm>
          <a:prstGeom prst="rect">
            <a:avLst/>
          </a:prstGeom>
          <a:noFill/>
        </p:spPr>
        <p:txBody>
          <a:bodyPr wrap="square" lIns="0" tIns="0" rIns="0" bIns="0" anchor="t">
            <a:noAutofit/>
          </a:bodyPr>
          <a:lstStyle/>
          <a:p>
            <a:pPr algn="l">
              <a:spcAft>
                <a:spcPts val="0"/>
              </a:spcAft>
            </a:pPr>
            <a:r>
              <a:rPr lang="ko-KR" sz="1300" b="0">
                <a:solidFill>
                  <a:srgbClr val="A9B2DE"/>
                </a:solidFill>
                <a:latin typeface="Paperlogy 4 Regular"/>
                <a:ea typeface="Paperlogy 4 Regular"/>
                <a:cs typeface="Paperlogy 4 Regular"/>
              </a:rPr>
              <a:t>팀 ○○○  ·  팀장 ○○○  ·  2026. 11.</a:t>
            </a:r>
          </a:p>
        </p:txBody>
      </p:sp>
      <p:sp>
        <p:nvSpPr>
          <p:cNvPr id="13" name="Rounded Rectangle 12"/>
          <p:cNvSpPr/>
          <p:nvPr/>
        </p:nvSpPr>
        <p:spPr>
          <a:xfrm>
            <a:off x="8902598"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729569"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856878" y="5424054"/>
            <a:ext cx="2037283" cy="155448"/>
          </a:xfrm>
          <a:prstGeom prst="roundRect">
            <a:avLst>
              <a:gd name="adj" fmla="val 50000"/>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856878" y="4592781"/>
            <a:ext cx="2037283" cy="155448"/>
          </a:xfrm>
          <a:prstGeom prst="roundRect">
            <a:avLst>
              <a:gd name="adj" fmla="val 50000"/>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856878" y="3761509"/>
            <a:ext cx="2037283" cy="155448"/>
          </a:xfrm>
          <a:prstGeom prst="roundRect">
            <a:avLst>
              <a:gd name="adj" fmla="val 50000"/>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56878" y="2930236"/>
            <a:ext cx="2037283" cy="155448"/>
          </a:xfrm>
          <a:prstGeom prst="roundRect">
            <a:avLst>
              <a:gd name="adj" fmla="val 50000"/>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856878" y="2098963"/>
            <a:ext cx="2037283" cy="155448"/>
          </a:xfrm>
          <a:prstGeom prst="roundRect">
            <a:avLst>
              <a:gd name="adj" fmla="val 50000"/>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856878" y="1267690"/>
            <a:ext cx="2037283" cy="155448"/>
          </a:xfrm>
          <a:prstGeom prst="roundRect">
            <a:avLst>
              <a:gd name="adj" fmla="val 50000"/>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311896" y="1124712"/>
            <a:ext cx="64008" cy="64008"/>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334902" y="1344168"/>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07654" y="37033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508638" y="3154680"/>
            <a:ext cx="73152" cy="73152"/>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85632" y="5788152"/>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195913" y="534924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875520" y="795528"/>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92486" y="6007608"/>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354312" y="2880360"/>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570464" y="23317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195913" y="960120"/>
            <a:ext cx="384048" cy="384048"/>
          </a:xfrm>
          <a:prstGeom prst="ellipse">
            <a:avLst/>
          </a:prstGeom>
          <a:solidFill>
            <a:srgbClr val="62AEF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138160" y="4800600"/>
            <a:ext cx="274320" cy="274320"/>
          </a:xfrm>
          <a:prstGeom prst="ellipse">
            <a:avLst/>
          </a:prstGeom>
          <a:solidFill>
            <a:srgbClr val="FF64C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439144" y="4251960"/>
            <a:ext cx="201168" cy="201168"/>
          </a:xfrm>
          <a:prstGeom prst="ellipse">
            <a:avLst/>
          </a:prstGeom>
          <a:solidFill>
            <a:srgbClr val="D6B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328928"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01  문제 정의</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같은 청년 안에서도 자산 격차는 40배</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출발선의 차이가 '정보'와 '습관'의 차이로 굳어지고 있습니다</a:t>
            </a:r>
          </a:p>
        </p:txBody>
      </p:sp>
      <p:sp>
        <p:nvSpPr>
          <p:cNvPr id="5" name="Rounded Rectangle 4"/>
          <p:cNvSpPr/>
          <p:nvPr/>
        </p:nvSpPr>
        <p:spPr>
          <a:xfrm>
            <a:off x="548640" y="2011680"/>
            <a:ext cx="5120640" cy="4069080"/>
          </a:xfrm>
          <a:prstGeom prst="roundRect">
            <a:avLst>
              <a:gd name="adj" fmla="val 3820"/>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2331720"/>
            <a:ext cx="1645920" cy="274320"/>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청년층 순자산 격차</a:t>
            </a:r>
          </a:p>
        </p:txBody>
      </p:sp>
      <p:sp>
        <p:nvSpPr>
          <p:cNvPr id="7" name="TextBox 6"/>
          <p:cNvSpPr txBox="1"/>
          <p:nvPr/>
        </p:nvSpPr>
        <p:spPr>
          <a:xfrm>
            <a:off x="868680" y="2697480"/>
            <a:ext cx="4572000" cy="1325880"/>
          </a:xfrm>
          <a:prstGeom prst="rect">
            <a:avLst/>
          </a:prstGeom>
          <a:noFill/>
        </p:spPr>
        <p:txBody>
          <a:bodyPr wrap="square" lIns="0" tIns="0" rIns="0" bIns="0" anchor="t">
            <a:noAutofit/>
          </a:bodyPr>
          <a:lstStyle/>
          <a:p>
            <a:pPr algn="l">
              <a:spcAft>
                <a:spcPts val="0"/>
              </a:spcAft>
            </a:pPr>
            <a:r>
              <a:rPr lang="ko-KR" sz="9600" b="0" spc="-250">
                <a:solidFill>
                  <a:srgbClr val="111111"/>
                </a:solidFill>
                <a:latin typeface="Paperlogy 8 ExtraBold"/>
                <a:ea typeface="Paperlogy 8 ExtraBold"/>
                <a:cs typeface="Paperlogy 8 ExtraBold"/>
              </a:rPr>
              <a:t>40.4배</a:t>
            </a:r>
          </a:p>
        </p:txBody>
      </p:sp>
      <p:sp>
        <p:nvSpPr>
          <p:cNvPr id="8" name="TextBox 7"/>
          <p:cNvSpPr txBox="1"/>
          <p:nvPr/>
        </p:nvSpPr>
        <p:spPr>
          <a:xfrm>
            <a:off x="868680" y="4114800"/>
            <a:ext cx="457200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순자산 상위 20%와 하위 20% 사이</a:t>
            </a:r>
          </a:p>
        </p:txBody>
      </p:sp>
      <p:sp>
        <p:nvSpPr>
          <p:cNvPr id="9" name="TextBox 8"/>
          <p:cNvSpPr txBox="1"/>
          <p:nvPr/>
        </p:nvSpPr>
        <p:spPr>
          <a:xfrm>
            <a:off x="868680" y="4572000"/>
            <a:ext cx="4480560" cy="822960"/>
          </a:xfrm>
          <a:prstGeom prst="rect">
            <a:avLst/>
          </a:prstGeom>
          <a:noFill/>
        </p:spPr>
        <p:txBody>
          <a:bodyPr wrap="square" lIns="0" tIns="0" rIns="0" bIns="0" anchor="t">
            <a:noAutofit/>
          </a:bodyPr>
          <a:lstStyle/>
          <a:p>
            <a:pPr algn="l">
              <a:lnSpc>
                <a:spcPct val="130000"/>
              </a:lnSpc>
              <a:spcAft>
                <a:spcPts val="0"/>
              </a:spcAft>
            </a:pPr>
            <a:r>
              <a:rPr lang="ko-KR" sz="1500" b="0">
                <a:solidFill>
                  <a:srgbClr val="31302E"/>
                </a:solidFill>
                <a:latin typeface="Paperlogy 4 Regular"/>
                <a:ea typeface="Paperlogy 4 Regular"/>
                <a:cs typeface="Paperlogy 4 Regular"/>
              </a:rPr>
              <a:t>같은 세대 안에서도 출발선이 이만큼 벌어져 있고, 정부의 자산형성 지원 가입률마저 계층에 따라 차이가 납니다.</a:t>
            </a:r>
          </a:p>
        </p:txBody>
      </p:sp>
      <p:sp>
        <p:nvSpPr>
          <p:cNvPr id="10" name="TextBox 9"/>
          <p:cNvSpPr txBox="1"/>
          <p:nvPr/>
        </p:nvSpPr>
        <p:spPr>
          <a:xfrm>
            <a:off x="868680" y="5669280"/>
            <a:ext cx="44805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출처: 국회입법조사처 보고서 (2026.7)</a:t>
            </a:r>
          </a:p>
        </p:txBody>
      </p:sp>
      <p:sp>
        <p:nvSpPr>
          <p:cNvPr id="11" name="Rounded Rectangle 10"/>
          <p:cNvSpPr/>
          <p:nvPr/>
        </p:nvSpPr>
        <p:spPr>
          <a:xfrm>
            <a:off x="5943600" y="2011680"/>
            <a:ext cx="5696712" cy="1234440"/>
          </a:xfrm>
          <a:prstGeom prst="roundRect">
            <a:avLst>
              <a:gd name="adj" fmla="val 12592"/>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217920" y="2468880"/>
            <a:ext cx="310896" cy="310896"/>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20840" y="2267712"/>
            <a:ext cx="1828800" cy="731520"/>
          </a:xfrm>
          <a:prstGeom prst="rect">
            <a:avLst/>
          </a:prstGeom>
          <a:noFill/>
        </p:spPr>
        <p:txBody>
          <a:bodyPr wrap="square" lIns="0" tIns="0" rIns="0" bIns="0" anchor="ctr">
            <a:noAutofit/>
          </a:bodyPr>
          <a:lstStyle/>
          <a:p>
            <a:pPr algn="l">
              <a:spcAft>
                <a:spcPts val="0"/>
              </a:spcAft>
            </a:pPr>
            <a:r>
              <a:rPr lang="ko-KR" sz="4000" b="0" spc="-60">
                <a:solidFill>
                  <a:srgbClr val="111111"/>
                </a:solidFill>
                <a:latin typeface="Paperlogy 8 ExtraBold"/>
                <a:ea typeface="Paperlogy 8 ExtraBold"/>
                <a:cs typeface="Paperlogy 8 ExtraBold"/>
              </a:rPr>
              <a:t>62.6점</a:t>
            </a:r>
          </a:p>
        </p:txBody>
      </p:sp>
      <p:sp>
        <p:nvSpPr>
          <p:cNvPr id="14" name="TextBox 13"/>
          <p:cNvSpPr txBox="1"/>
          <p:nvPr/>
        </p:nvSpPr>
        <p:spPr>
          <a:xfrm>
            <a:off x="8549640" y="2212848"/>
            <a:ext cx="2926080" cy="658368"/>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20대 금융이해력. 전체 평균 65.7점보다 낮고, 재무목표·재무점검 점수는 2년 새 급락</a:t>
            </a:r>
          </a:p>
        </p:txBody>
      </p:sp>
      <p:sp>
        <p:nvSpPr>
          <p:cNvPr id="15" name="TextBox 14"/>
          <p:cNvSpPr txBox="1"/>
          <p:nvPr/>
        </p:nvSpPr>
        <p:spPr>
          <a:xfrm>
            <a:off x="8549640" y="2907792"/>
            <a:ext cx="292608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한국은행·금감원 (2024)</a:t>
            </a:r>
          </a:p>
        </p:txBody>
      </p:sp>
      <p:sp>
        <p:nvSpPr>
          <p:cNvPr id="16" name="Rounded Rectangle 15"/>
          <p:cNvSpPr/>
          <p:nvPr/>
        </p:nvSpPr>
        <p:spPr>
          <a:xfrm>
            <a:off x="5943600" y="3429000"/>
            <a:ext cx="5696712" cy="1234440"/>
          </a:xfrm>
          <a:prstGeom prst="roundRect">
            <a:avLst>
              <a:gd name="adj" fmla="val 12592"/>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17920" y="3886200"/>
            <a:ext cx="310896" cy="310896"/>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20840" y="3685032"/>
            <a:ext cx="1828800" cy="731520"/>
          </a:xfrm>
          <a:prstGeom prst="rect">
            <a:avLst/>
          </a:prstGeom>
          <a:noFill/>
        </p:spPr>
        <p:txBody>
          <a:bodyPr wrap="square" lIns="0" tIns="0" rIns="0" bIns="0" anchor="ctr">
            <a:noAutofit/>
          </a:bodyPr>
          <a:lstStyle/>
          <a:p>
            <a:pPr algn="l">
              <a:spcAft>
                <a:spcPts val="0"/>
              </a:spcAft>
            </a:pPr>
            <a:r>
              <a:rPr lang="ko-KR" sz="4000" b="0" spc="-60">
                <a:solidFill>
                  <a:srgbClr val="111111"/>
                </a:solidFill>
                <a:latin typeface="Paperlogy 8 ExtraBold"/>
                <a:ea typeface="Paperlogy 8 ExtraBold"/>
                <a:cs typeface="Paperlogy 8 ExtraBold"/>
              </a:rPr>
              <a:t>39.3%</a:t>
            </a:r>
          </a:p>
        </p:txBody>
      </p:sp>
      <p:sp>
        <p:nvSpPr>
          <p:cNvPr id="19" name="TextBox 18"/>
          <p:cNvSpPr txBox="1"/>
          <p:nvPr/>
        </p:nvSpPr>
        <p:spPr>
          <a:xfrm>
            <a:off x="8549640" y="3630168"/>
            <a:ext cx="2926080" cy="658368"/>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청년정책을 이용하지 않은 이유 2위: "관심은 있지만 찾는 방법을 몰라서"</a:t>
            </a:r>
          </a:p>
        </p:txBody>
      </p:sp>
      <p:sp>
        <p:nvSpPr>
          <p:cNvPr id="20" name="TextBox 19"/>
          <p:cNvSpPr txBox="1"/>
          <p:nvPr/>
        </p:nvSpPr>
        <p:spPr>
          <a:xfrm>
            <a:off x="8549640" y="4325112"/>
            <a:ext cx="292608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청년정책 인식 조사 (2026.9, n=281)</a:t>
            </a:r>
          </a:p>
        </p:txBody>
      </p:sp>
      <p:sp>
        <p:nvSpPr>
          <p:cNvPr id="21" name="Rounded Rectangle 20"/>
          <p:cNvSpPr/>
          <p:nvPr/>
        </p:nvSpPr>
        <p:spPr>
          <a:xfrm>
            <a:off x="5943600" y="4846320"/>
            <a:ext cx="5696712" cy="1234440"/>
          </a:xfrm>
          <a:prstGeom prst="roundRect">
            <a:avLst>
              <a:gd name="adj" fmla="val 12592"/>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217920" y="5303520"/>
            <a:ext cx="310896" cy="310896"/>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0840" y="5102352"/>
            <a:ext cx="1828800" cy="731520"/>
          </a:xfrm>
          <a:prstGeom prst="rect">
            <a:avLst/>
          </a:prstGeom>
          <a:noFill/>
        </p:spPr>
        <p:txBody>
          <a:bodyPr wrap="square" lIns="0" tIns="0" rIns="0" bIns="0" anchor="ctr">
            <a:noAutofit/>
          </a:bodyPr>
          <a:lstStyle/>
          <a:p>
            <a:pPr algn="l">
              <a:spcAft>
                <a:spcPts val="0"/>
              </a:spcAft>
            </a:pPr>
            <a:r>
              <a:rPr lang="ko-KR" sz="4000" b="0" spc="-60">
                <a:solidFill>
                  <a:srgbClr val="111111"/>
                </a:solidFill>
                <a:latin typeface="Paperlogy 8 ExtraBold"/>
                <a:ea typeface="Paperlogy 8 ExtraBold"/>
                <a:cs typeface="Paperlogy 8 ExtraBold"/>
              </a:rPr>
              <a:t>15.9%</a:t>
            </a:r>
          </a:p>
        </p:txBody>
      </p:sp>
      <p:sp>
        <p:nvSpPr>
          <p:cNvPr id="24" name="TextBox 23"/>
          <p:cNvSpPr txBox="1"/>
          <p:nvPr/>
        </p:nvSpPr>
        <p:spPr>
          <a:xfrm>
            <a:off x="8549640" y="5047488"/>
            <a:ext cx="2926080" cy="658368"/>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청년도약계좌 중도해지율. 2023년 말 8.2%에서 두 배 가까이 증가</a:t>
            </a:r>
          </a:p>
        </p:txBody>
      </p:sp>
      <p:sp>
        <p:nvSpPr>
          <p:cNvPr id="25" name="TextBox 24"/>
          <p:cNvSpPr txBox="1"/>
          <p:nvPr/>
        </p:nvSpPr>
        <p:spPr>
          <a:xfrm>
            <a:off x="8549640" y="5742432"/>
            <a:ext cx="292608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국회입법조사처 (2026.7)</a:t>
            </a:r>
          </a:p>
        </p:txBody>
      </p:sp>
      <p:sp>
        <p:nvSpPr>
          <p:cNvPr id="26" name="TextBox 25"/>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문제 정의</a:t>
            </a:r>
          </a:p>
        </p:txBody>
      </p:sp>
      <p:sp>
        <p:nvSpPr>
          <p:cNvPr id="27" name="TextBox 26"/>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328928"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01  문제 정의</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20대의 목표와 점검 능력이 무너졌다</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한국은행·금감원 「2024 전국민 금융이해력 조사」 20대 세부 점수 (100점 만점)</a:t>
            </a:r>
          </a:p>
        </p:txBody>
      </p:sp>
      <p:sp>
        <p:nvSpPr>
          <p:cNvPr id="5" name="Rounded Rectangle 4"/>
          <p:cNvSpPr/>
          <p:nvPr/>
        </p:nvSpPr>
        <p:spPr>
          <a:xfrm>
            <a:off x="548640" y="2011680"/>
            <a:ext cx="6766560" cy="4069080"/>
          </a:xfrm>
          <a:prstGeom prst="roundRect">
            <a:avLst>
              <a:gd name="adj" fmla="val 382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822959" y="2194560"/>
          <a:ext cx="621792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589520" y="2011680"/>
            <a:ext cx="4050791" cy="4069080"/>
          </a:xfrm>
          <a:prstGeom prst="roundRect">
            <a:avLst>
              <a:gd name="adj" fmla="val 3837"/>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09560" y="2331720"/>
            <a:ext cx="1103376" cy="274320"/>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사다리의 답</a:t>
            </a:r>
          </a:p>
        </p:txBody>
      </p:sp>
      <p:sp>
        <p:nvSpPr>
          <p:cNvPr id="9" name="TextBox 8"/>
          <p:cNvSpPr txBox="1"/>
          <p:nvPr/>
        </p:nvSpPr>
        <p:spPr>
          <a:xfrm>
            <a:off x="7909560" y="2743200"/>
            <a:ext cx="3474720" cy="731520"/>
          </a:xfrm>
          <a:prstGeom prst="rect">
            <a:avLst/>
          </a:prstGeom>
          <a:noFill/>
        </p:spPr>
        <p:txBody>
          <a:bodyPr wrap="square" lIns="0" tIns="0" rIns="0" bIns="0" anchor="t">
            <a:noAutofit/>
          </a:bodyPr>
          <a:lstStyle/>
          <a:p>
            <a:pPr algn="l">
              <a:lnSpc>
                <a:spcPct val="115000"/>
              </a:lnSpc>
              <a:spcAft>
                <a:spcPts val="0"/>
              </a:spcAft>
            </a:pPr>
            <a:r>
              <a:rPr lang="ko-KR" sz="1900" b="0" spc="-20">
                <a:solidFill>
                  <a:srgbClr val="111111"/>
                </a:solidFill>
                <a:latin typeface="Paperlogy 7 Bold"/>
                <a:ea typeface="Paperlogy 7 Bold"/>
                <a:cs typeface="Paperlogy 7 Bold"/>
              </a:rPr>
              <a:t>목표는 함께 세우고, 점검은 매주 함께</a:t>
            </a:r>
          </a:p>
        </p:txBody>
      </p:sp>
      <p:sp>
        <p:nvSpPr>
          <p:cNvPr id="10" name="Oval 9"/>
          <p:cNvSpPr/>
          <p:nvPr/>
        </p:nvSpPr>
        <p:spPr>
          <a:xfrm>
            <a:off x="7909560" y="3776472"/>
            <a:ext cx="201168" cy="201168"/>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47888" y="3703320"/>
            <a:ext cx="3063240"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재무목표 36.1점 → 월급 배분 플랜</a:t>
            </a:r>
          </a:p>
        </p:txBody>
      </p:sp>
      <p:sp>
        <p:nvSpPr>
          <p:cNvPr id="12" name="TextBox 11"/>
          <p:cNvSpPr txBox="1"/>
          <p:nvPr/>
        </p:nvSpPr>
        <p:spPr>
          <a:xfrm>
            <a:off x="8247888" y="4050791"/>
            <a:ext cx="306324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5분 진단이면 무엇을 얼마씩 모을지 계산 엔진이 정해줍니다</a:t>
            </a:r>
          </a:p>
        </p:txBody>
      </p:sp>
      <p:sp>
        <p:nvSpPr>
          <p:cNvPr id="13" name="Oval 12"/>
          <p:cNvSpPr/>
          <p:nvPr/>
        </p:nvSpPr>
        <p:spPr>
          <a:xfrm>
            <a:off x="7909560" y="4873752"/>
            <a:ext cx="201168" cy="201168"/>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47888" y="4800600"/>
            <a:ext cx="3063240"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재무점검 33.2점 → 주간 체크인</a:t>
            </a:r>
          </a:p>
        </p:txBody>
      </p:sp>
      <p:sp>
        <p:nvSpPr>
          <p:cNvPr id="15" name="TextBox 14"/>
          <p:cNvSpPr txBox="1"/>
          <p:nvPr/>
        </p:nvSpPr>
        <p:spPr>
          <a:xfrm>
            <a:off x="8247888" y="5148072"/>
            <a:ext cx="306324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목표 진척과 적금 납입 위험을 매주 알려주고 약속을 기억합니다</a:t>
            </a:r>
          </a:p>
        </p:txBody>
      </p:sp>
      <p:sp>
        <p:nvSpPr>
          <p:cNvPr id="16" name="TextBox 15"/>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문제 정의</a:t>
            </a:r>
          </a:p>
        </p:txBody>
      </p:sp>
      <p:sp>
        <p:nvSpPr>
          <p:cNvPr id="17" name="TextBox 16"/>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328928"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01  문제 정의</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청년이 실제로 겪는 네 가지 문제</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각 문제마다 사다리의 기능이 하나씩 대응합니다</a:t>
            </a:r>
          </a:p>
        </p:txBody>
      </p:sp>
      <p:sp>
        <p:nvSpPr>
          <p:cNvPr id="5" name="Rounded Rectangle 4"/>
          <p:cNvSpPr/>
          <p:nvPr/>
        </p:nvSpPr>
        <p:spPr>
          <a:xfrm>
            <a:off x="548640" y="2011680"/>
            <a:ext cx="5454396" cy="1920240"/>
          </a:xfrm>
          <a:prstGeom prst="roundRect">
            <a:avLst>
              <a:gd name="adj" fmla="val 8095"/>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1247" y="2304288"/>
            <a:ext cx="512064" cy="512064"/>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P1</a:t>
            </a:r>
          </a:p>
        </p:txBody>
      </p:sp>
      <p:sp>
        <p:nvSpPr>
          <p:cNvPr id="7" name="TextBox 6"/>
          <p:cNvSpPr txBox="1"/>
          <p:nvPr/>
        </p:nvSpPr>
        <p:spPr>
          <a:xfrm>
            <a:off x="1554480" y="2340864"/>
            <a:ext cx="4174235" cy="41148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무엇부터 해야 할지 모른다</a:t>
            </a:r>
          </a:p>
        </p:txBody>
      </p:sp>
      <p:sp>
        <p:nvSpPr>
          <p:cNvPr id="8" name="TextBox 7"/>
          <p:cNvSpPr txBox="1"/>
          <p:nvPr/>
        </p:nvSpPr>
        <p:spPr>
          <a:xfrm>
            <a:off x="1554480" y="2779776"/>
            <a:ext cx="4174235" cy="4114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월급은 들어오는데 배분 기준이 없다. 20대 재무목표 36.1점</a:t>
            </a:r>
          </a:p>
        </p:txBody>
      </p:sp>
      <p:sp>
        <p:nvSpPr>
          <p:cNvPr id="9" name="Oval 8"/>
          <p:cNvSpPr/>
          <p:nvPr/>
        </p:nvSpPr>
        <p:spPr>
          <a:xfrm>
            <a:off x="1572768" y="3319272"/>
            <a:ext cx="118872" cy="118872"/>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10512" y="3218688"/>
            <a:ext cx="3918204" cy="603504"/>
          </a:xfrm>
          <a:prstGeom prst="rect">
            <a:avLst/>
          </a:prstGeom>
          <a:noFill/>
        </p:spPr>
        <p:txBody>
          <a:bodyPr wrap="square" lIns="0" tIns="0" rIns="0" bIns="0" anchor="t">
            <a:noAutofit/>
          </a:bodyPr>
          <a:lstStyle/>
          <a:p>
            <a:pPr algn="l">
              <a:lnSpc>
                <a:spcPct val="115000"/>
              </a:lnSpc>
              <a:spcAft>
                <a:spcPts val="0"/>
              </a:spcAft>
            </a:pPr>
            <a:r>
              <a:rPr lang="ko-KR" sz="1600" b="0">
                <a:solidFill>
                  <a:srgbClr val="111111"/>
                </a:solidFill>
                <a:latin typeface="Paperlogy 6 SemiBold"/>
                <a:ea typeface="Paperlogy 6 SemiBold"/>
                <a:cs typeface="Paperlogy 6 SemiBold"/>
              </a:rPr>
              <a:t>5분 진단 → 우선순위가 정해진 월급 배분 플랜</a:t>
            </a:r>
          </a:p>
        </p:txBody>
      </p:sp>
      <p:sp>
        <p:nvSpPr>
          <p:cNvPr id="11" name="Rounded Rectangle 10"/>
          <p:cNvSpPr/>
          <p:nvPr/>
        </p:nvSpPr>
        <p:spPr>
          <a:xfrm>
            <a:off x="6185916" y="2011680"/>
            <a:ext cx="5454396" cy="1920240"/>
          </a:xfrm>
          <a:prstGeom prst="roundRect">
            <a:avLst>
              <a:gd name="adj" fmla="val 8095"/>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78524" y="2304288"/>
            <a:ext cx="512064" cy="512064"/>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P2</a:t>
            </a:r>
          </a:p>
        </p:txBody>
      </p:sp>
      <p:sp>
        <p:nvSpPr>
          <p:cNvPr id="13" name="TextBox 12"/>
          <p:cNvSpPr txBox="1"/>
          <p:nvPr/>
        </p:nvSpPr>
        <p:spPr>
          <a:xfrm>
            <a:off x="7191756" y="2340864"/>
            <a:ext cx="4174235" cy="41148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나에게 맞는 혜택을 못 찾는다</a:t>
            </a:r>
          </a:p>
        </p:txBody>
      </p:sp>
      <p:sp>
        <p:nvSpPr>
          <p:cNvPr id="14" name="TextBox 13"/>
          <p:cNvSpPr txBox="1"/>
          <p:nvPr/>
        </p:nvSpPr>
        <p:spPr>
          <a:xfrm>
            <a:off x="7191756" y="2779776"/>
            <a:ext cx="4174235" cy="4114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정책은 많지만 내가 대상인지, 얼마를 받는지 모른다</a:t>
            </a:r>
          </a:p>
        </p:txBody>
      </p:sp>
      <p:sp>
        <p:nvSpPr>
          <p:cNvPr id="15" name="Oval 14"/>
          <p:cNvSpPr/>
          <p:nvPr/>
        </p:nvSpPr>
        <p:spPr>
          <a:xfrm>
            <a:off x="7210044" y="3319272"/>
            <a:ext cx="118872" cy="118872"/>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47788" y="3218688"/>
            <a:ext cx="3918204" cy="603504"/>
          </a:xfrm>
          <a:prstGeom prst="rect">
            <a:avLst/>
          </a:prstGeom>
          <a:noFill/>
        </p:spPr>
        <p:txBody>
          <a:bodyPr wrap="square" lIns="0" tIns="0" rIns="0" bIns="0" anchor="t">
            <a:noAutofit/>
          </a:bodyPr>
          <a:lstStyle/>
          <a:p>
            <a:pPr algn="l">
              <a:lnSpc>
                <a:spcPct val="115000"/>
              </a:lnSpc>
              <a:spcAft>
                <a:spcPts val="0"/>
              </a:spcAft>
            </a:pPr>
            <a:r>
              <a:rPr lang="ko-KR" sz="1600" b="0">
                <a:solidFill>
                  <a:srgbClr val="111111"/>
                </a:solidFill>
                <a:latin typeface="Paperlogy 6 SemiBold"/>
                <a:ea typeface="Paperlogy 6 SemiBold"/>
                <a:cs typeface="Paperlogy 6 SemiBold"/>
              </a:rPr>
              <a:t>자격 판정 + 근거 검색으로 받을 수 있는 혜택과 예상액</a:t>
            </a:r>
          </a:p>
        </p:txBody>
      </p:sp>
      <p:sp>
        <p:nvSpPr>
          <p:cNvPr id="17" name="Rounded Rectangle 16"/>
          <p:cNvSpPr/>
          <p:nvPr/>
        </p:nvSpPr>
        <p:spPr>
          <a:xfrm>
            <a:off x="548640" y="4160520"/>
            <a:ext cx="5454396" cy="1920240"/>
          </a:xfrm>
          <a:prstGeom prst="roundRect">
            <a:avLst>
              <a:gd name="adj" fmla="val 8095"/>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7" y="4453128"/>
            <a:ext cx="512064" cy="512064"/>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P3</a:t>
            </a:r>
          </a:p>
        </p:txBody>
      </p:sp>
      <p:sp>
        <p:nvSpPr>
          <p:cNvPr id="19" name="TextBox 18"/>
          <p:cNvSpPr txBox="1"/>
          <p:nvPr/>
        </p:nvSpPr>
        <p:spPr>
          <a:xfrm>
            <a:off x="1554480" y="4489704"/>
            <a:ext cx="4174235" cy="41148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가입해도 유지하지 못한다</a:t>
            </a:r>
          </a:p>
        </p:txBody>
      </p:sp>
      <p:sp>
        <p:nvSpPr>
          <p:cNvPr id="20" name="TextBox 19"/>
          <p:cNvSpPr txBox="1"/>
          <p:nvPr/>
        </p:nvSpPr>
        <p:spPr>
          <a:xfrm>
            <a:off x="1554480" y="4928616"/>
            <a:ext cx="4174235" cy="4114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3년, 5년짜리 적금을 중간에 깬다. 도약계좌 해지율 15.9%</a:t>
            </a:r>
          </a:p>
        </p:txBody>
      </p:sp>
      <p:sp>
        <p:nvSpPr>
          <p:cNvPr id="21" name="Oval 20"/>
          <p:cNvSpPr/>
          <p:nvPr/>
        </p:nvSpPr>
        <p:spPr>
          <a:xfrm>
            <a:off x="1572768" y="5468112"/>
            <a:ext cx="118872" cy="118872"/>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10512" y="5367528"/>
            <a:ext cx="3918204" cy="603504"/>
          </a:xfrm>
          <a:prstGeom prst="rect">
            <a:avLst/>
          </a:prstGeom>
          <a:noFill/>
        </p:spPr>
        <p:txBody>
          <a:bodyPr wrap="square" lIns="0" tIns="0" rIns="0" bIns="0" anchor="t">
            <a:noAutofit/>
          </a:bodyPr>
          <a:lstStyle/>
          <a:p>
            <a:pPr algn="l">
              <a:lnSpc>
                <a:spcPct val="115000"/>
              </a:lnSpc>
              <a:spcAft>
                <a:spcPts val="0"/>
              </a:spcAft>
            </a:pPr>
            <a:r>
              <a:rPr lang="ko-KR" sz="1600" b="0">
                <a:solidFill>
                  <a:srgbClr val="111111"/>
                </a:solidFill>
                <a:latin typeface="Paperlogy 6 SemiBold"/>
                <a:ea typeface="Paperlogy 6 SemiBold"/>
                <a:cs typeface="Paperlogy 6 SemiBold"/>
              </a:rPr>
              <a:t>약속을 기억하는 AI 코치와 주간 체크인</a:t>
            </a:r>
          </a:p>
        </p:txBody>
      </p:sp>
      <p:sp>
        <p:nvSpPr>
          <p:cNvPr id="23" name="Rounded Rectangle 22"/>
          <p:cNvSpPr/>
          <p:nvPr/>
        </p:nvSpPr>
        <p:spPr>
          <a:xfrm>
            <a:off x="6185916" y="4160520"/>
            <a:ext cx="5454396" cy="1920240"/>
          </a:xfrm>
          <a:prstGeom prst="roundRect">
            <a:avLst>
              <a:gd name="adj" fmla="val 8095"/>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78524" y="4453128"/>
            <a:ext cx="512064" cy="512064"/>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P4</a:t>
            </a:r>
          </a:p>
        </p:txBody>
      </p:sp>
      <p:sp>
        <p:nvSpPr>
          <p:cNvPr id="25" name="TextBox 24"/>
          <p:cNvSpPr txBox="1"/>
          <p:nvPr/>
        </p:nvSpPr>
        <p:spPr>
          <a:xfrm>
            <a:off x="7191756" y="4489704"/>
            <a:ext cx="4174235" cy="41148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모을 돈 자체가 없다</a:t>
            </a:r>
          </a:p>
        </p:txBody>
      </p:sp>
      <p:sp>
        <p:nvSpPr>
          <p:cNvPr id="26" name="TextBox 25"/>
          <p:cNvSpPr txBox="1"/>
          <p:nvPr/>
        </p:nvSpPr>
        <p:spPr>
          <a:xfrm>
            <a:off x="7191756" y="4928616"/>
            <a:ext cx="4174235" cy="41148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정책상품은 '본인 저축'을 전제로 한다. 저축 여력이 먼저다</a:t>
            </a:r>
          </a:p>
        </p:txBody>
      </p:sp>
      <p:sp>
        <p:nvSpPr>
          <p:cNvPr id="27" name="Oval 26"/>
          <p:cNvSpPr/>
          <p:nvPr/>
        </p:nvSpPr>
        <p:spPr>
          <a:xfrm>
            <a:off x="7210044" y="5468112"/>
            <a:ext cx="118872" cy="118872"/>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47788" y="5367528"/>
            <a:ext cx="3918204" cy="603504"/>
          </a:xfrm>
          <a:prstGeom prst="rect">
            <a:avLst/>
          </a:prstGeom>
          <a:noFill/>
        </p:spPr>
        <p:txBody>
          <a:bodyPr wrap="square" lIns="0" tIns="0" rIns="0" bIns="0" anchor="t">
            <a:noAutofit/>
          </a:bodyPr>
          <a:lstStyle/>
          <a:p>
            <a:pPr algn="l">
              <a:lnSpc>
                <a:spcPct val="115000"/>
              </a:lnSpc>
              <a:spcAft>
                <a:spcPts val="0"/>
              </a:spcAft>
            </a:pPr>
            <a:r>
              <a:rPr lang="ko-KR" sz="1600" b="0">
                <a:solidFill>
                  <a:srgbClr val="111111"/>
                </a:solidFill>
                <a:latin typeface="Paperlogy 6 SemiBold"/>
                <a:ea typeface="Paperlogy 6 SemiBold"/>
                <a:cs typeface="Paperlogy 6 SemiBold"/>
              </a:rPr>
              <a:t>지출 영향 계산과 소비 분석으로 저축 여력 만들기</a:t>
            </a:r>
          </a:p>
        </p:txBody>
      </p:sp>
      <p:sp>
        <p:nvSpPr>
          <p:cNvPr id="29" name="TextBox 28"/>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문제 정의</a:t>
            </a:r>
          </a:p>
        </p:txBody>
      </p:sp>
      <p:sp>
        <p:nvSpPr>
          <p:cNvPr id="30" name="TextBox 29"/>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02  해결</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조회가 아니라, 실행과 유지까지</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기존 서비스와 사다리의 역할 비교</a:t>
            </a:r>
          </a:p>
        </p:txBody>
      </p:sp>
      <p:sp>
        <p:nvSpPr>
          <p:cNvPr id="5" name="Rounded Rectangle 4"/>
          <p:cNvSpPr/>
          <p:nvPr/>
        </p:nvSpPr>
        <p:spPr>
          <a:xfrm>
            <a:off x="548640" y="2011680"/>
            <a:ext cx="3566160" cy="4069080"/>
          </a:xfrm>
          <a:prstGeom prst="roundRect">
            <a:avLst>
              <a:gd name="adj" fmla="val 4358"/>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194560"/>
            <a:ext cx="30175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자산관리 앱</a:t>
            </a:r>
          </a:p>
        </p:txBody>
      </p:sp>
      <p:sp>
        <p:nvSpPr>
          <p:cNvPr id="7" name="TextBox 6"/>
          <p:cNvSpPr txBox="1"/>
          <p:nvPr/>
        </p:nvSpPr>
        <p:spPr>
          <a:xfrm>
            <a:off x="822959" y="2596896"/>
            <a:ext cx="301752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토스·뱅크샐러드 등</a:t>
            </a:r>
          </a:p>
        </p:txBody>
      </p:sp>
      <p:sp>
        <p:nvSpPr>
          <p:cNvPr id="8" name="Rectangle 7"/>
          <p:cNvSpPr/>
          <p:nvPr/>
        </p:nvSpPr>
        <p:spPr>
          <a:xfrm>
            <a:off x="822959" y="2962656"/>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3035808"/>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핵심 가치</a:t>
            </a:r>
          </a:p>
        </p:txBody>
      </p:sp>
      <p:sp>
        <p:nvSpPr>
          <p:cNvPr id="10" name="TextBox 9"/>
          <p:cNvSpPr txBox="1"/>
          <p:nvPr/>
        </p:nvSpPr>
        <p:spPr>
          <a:xfrm>
            <a:off x="822959" y="3264408"/>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계좌 통합 조회와 소비 분석</a:t>
            </a:r>
          </a:p>
        </p:txBody>
      </p:sp>
      <p:sp>
        <p:nvSpPr>
          <p:cNvPr id="11" name="Rectangle 10"/>
          <p:cNvSpPr/>
          <p:nvPr/>
        </p:nvSpPr>
        <p:spPr>
          <a:xfrm>
            <a:off x="822959" y="3721607"/>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3794759"/>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개인화 기준</a:t>
            </a:r>
          </a:p>
        </p:txBody>
      </p:sp>
      <p:sp>
        <p:nvSpPr>
          <p:cNvPr id="13" name="TextBox 12"/>
          <p:cNvSpPr txBox="1"/>
          <p:nvPr/>
        </p:nvSpPr>
        <p:spPr>
          <a:xfrm>
            <a:off x="822959" y="4023359"/>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거래 데이터</a:t>
            </a:r>
          </a:p>
        </p:txBody>
      </p:sp>
      <p:sp>
        <p:nvSpPr>
          <p:cNvPr id="14" name="Rectangle 13"/>
          <p:cNvSpPr/>
          <p:nvPr/>
        </p:nvSpPr>
        <p:spPr>
          <a:xfrm>
            <a:off x="822959" y="4480559"/>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 y="4553712"/>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한계</a:t>
            </a:r>
          </a:p>
        </p:txBody>
      </p:sp>
      <p:sp>
        <p:nvSpPr>
          <p:cNvPr id="16" name="TextBox 15"/>
          <p:cNvSpPr txBox="1"/>
          <p:nvPr/>
        </p:nvSpPr>
        <p:spPr>
          <a:xfrm>
            <a:off x="822959" y="4782312"/>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청년 정책과 재무 계획의 연결은 부차적</a:t>
            </a:r>
          </a:p>
        </p:txBody>
      </p:sp>
      <p:sp>
        <p:nvSpPr>
          <p:cNvPr id="17" name="Rectangle 16"/>
          <p:cNvSpPr/>
          <p:nvPr/>
        </p:nvSpPr>
        <p:spPr>
          <a:xfrm>
            <a:off x="822959" y="5239512"/>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59" y="5312664"/>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중립성</a:t>
            </a:r>
          </a:p>
        </p:txBody>
      </p:sp>
      <p:sp>
        <p:nvSpPr>
          <p:cNvPr id="19" name="TextBox 18"/>
          <p:cNvSpPr txBox="1"/>
          <p:nvPr/>
        </p:nvSpPr>
        <p:spPr>
          <a:xfrm>
            <a:off x="822959" y="5541264"/>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상품 제휴 수익 구조</a:t>
            </a:r>
          </a:p>
        </p:txBody>
      </p:sp>
      <p:sp>
        <p:nvSpPr>
          <p:cNvPr id="20" name="Rounded Rectangle 19"/>
          <p:cNvSpPr/>
          <p:nvPr/>
        </p:nvSpPr>
        <p:spPr>
          <a:xfrm>
            <a:off x="4311396" y="2011680"/>
            <a:ext cx="3566160" cy="4069080"/>
          </a:xfrm>
          <a:prstGeom prst="roundRect">
            <a:avLst>
              <a:gd name="adj" fmla="val 4358"/>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85716" y="2194560"/>
            <a:ext cx="30175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정책 포털</a:t>
            </a:r>
          </a:p>
        </p:txBody>
      </p:sp>
      <p:sp>
        <p:nvSpPr>
          <p:cNvPr id="22" name="TextBox 21"/>
          <p:cNvSpPr txBox="1"/>
          <p:nvPr/>
        </p:nvSpPr>
        <p:spPr>
          <a:xfrm>
            <a:off x="4585716" y="2596896"/>
            <a:ext cx="301752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온통청년·보조금24 등</a:t>
            </a:r>
          </a:p>
        </p:txBody>
      </p:sp>
      <p:sp>
        <p:nvSpPr>
          <p:cNvPr id="23" name="Rectangle 22"/>
          <p:cNvSpPr/>
          <p:nvPr/>
        </p:nvSpPr>
        <p:spPr>
          <a:xfrm>
            <a:off x="4585716" y="2962656"/>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85716" y="3035808"/>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핵심 가치</a:t>
            </a:r>
          </a:p>
        </p:txBody>
      </p:sp>
      <p:sp>
        <p:nvSpPr>
          <p:cNvPr id="25" name="TextBox 24"/>
          <p:cNvSpPr txBox="1"/>
          <p:nvPr/>
        </p:nvSpPr>
        <p:spPr>
          <a:xfrm>
            <a:off x="4585716" y="3264408"/>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정책 검색과 자격 조회</a:t>
            </a:r>
          </a:p>
        </p:txBody>
      </p:sp>
      <p:sp>
        <p:nvSpPr>
          <p:cNvPr id="26" name="Rectangle 25"/>
          <p:cNvSpPr/>
          <p:nvPr/>
        </p:nvSpPr>
        <p:spPr>
          <a:xfrm>
            <a:off x="4585716" y="3721607"/>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85716" y="3794759"/>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개인화 기준</a:t>
            </a:r>
          </a:p>
        </p:txBody>
      </p:sp>
      <p:sp>
        <p:nvSpPr>
          <p:cNvPr id="28" name="TextBox 27"/>
          <p:cNvSpPr txBox="1"/>
          <p:nvPr/>
        </p:nvSpPr>
        <p:spPr>
          <a:xfrm>
            <a:off x="4585716" y="4023359"/>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나이·지역 등 인적 조건</a:t>
            </a:r>
          </a:p>
        </p:txBody>
      </p:sp>
      <p:sp>
        <p:nvSpPr>
          <p:cNvPr id="29" name="Rectangle 28"/>
          <p:cNvSpPr/>
          <p:nvPr/>
        </p:nvSpPr>
        <p:spPr>
          <a:xfrm>
            <a:off x="4585716" y="4480559"/>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85716" y="4553712"/>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한계</a:t>
            </a:r>
          </a:p>
        </p:txBody>
      </p:sp>
      <p:sp>
        <p:nvSpPr>
          <p:cNvPr id="31" name="TextBox 30"/>
          <p:cNvSpPr txBox="1"/>
          <p:nvPr/>
        </p:nvSpPr>
        <p:spPr>
          <a:xfrm>
            <a:off x="4585716" y="4782312"/>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내 현금흐름은 반영되지 않고 우선순위 판단은 사용자 몫</a:t>
            </a:r>
          </a:p>
        </p:txBody>
      </p:sp>
      <p:sp>
        <p:nvSpPr>
          <p:cNvPr id="32" name="Rectangle 31"/>
          <p:cNvSpPr/>
          <p:nvPr/>
        </p:nvSpPr>
        <p:spPr>
          <a:xfrm>
            <a:off x="4585716" y="5239512"/>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85716" y="5312664"/>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중립성</a:t>
            </a:r>
          </a:p>
        </p:txBody>
      </p:sp>
      <p:sp>
        <p:nvSpPr>
          <p:cNvPr id="34" name="TextBox 33"/>
          <p:cNvSpPr txBox="1"/>
          <p:nvPr/>
        </p:nvSpPr>
        <p:spPr>
          <a:xfrm>
            <a:off x="4585716" y="5541264"/>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31302E"/>
                </a:solidFill>
                <a:latin typeface="Paperlogy 4 Regular"/>
                <a:ea typeface="Paperlogy 4 Regular"/>
                <a:cs typeface="Paperlogy 4 Regular"/>
              </a:rPr>
              <a:t>중립</a:t>
            </a:r>
          </a:p>
        </p:txBody>
      </p:sp>
      <p:sp>
        <p:nvSpPr>
          <p:cNvPr id="35" name="Rounded Rectangle 34"/>
          <p:cNvSpPr/>
          <p:nvPr/>
        </p:nvSpPr>
        <p:spPr>
          <a:xfrm>
            <a:off x="8074152" y="2011680"/>
            <a:ext cx="3566160" cy="4069080"/>
          </a:xfrm>
          <a:prstGeom prst="roundRect">
            <a:avLst>
              <a:gd name="adj" fmla="val 4358"/>
            </a:avLst>
          </a:prstGeom>
          <a:solidFill>
            <a:srgbClr val="FFFFFF"/>
          </a:solidFill>
          <a:ln w="9525">
            <a:solidFill>
              <a:srgbClr val="E6E6E6"/>
            </a:solid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48472" y="2194560"/>
            <a:ext cx="30175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사다리</a:t>
            </a:r>
          </a:p>
        </p:txBody>
      </p:sp>
      <p:sp>
        <p:nvSpPr>
          <p:cNvPr id="37" name="TextBox 36"/>
          <p:cNvSpPr txBox="1"/>
          <p:nvPr/>
        </p:nvSpPr>
        <p:spPr>
          <a:xfrm>
            <a:off x="8348472" y="2596896"/>
            <a:ext cx="301752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청년 자산관리 AI 코치</a:t>
            </a:r>
          </a:p>
        </p:txBody>
      </p:sp>
      <p:sp>
        <p:nvSpPr>
          <p:cNvPr id="38" name="Rounded Rectangle 37"/>
          <p:cNvSpPr/>
          <p:nvPr/>
        </p:nvSpPr>
        <p:spPr>
          <a:xfrm>
            <a:off x="10314432" y="2240280"/>
            <a:ext cx="1103376" cy="274320"/>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우리의 접근</a:t>
            </a:r>
          </a:p>
        </p:txBody>
      </p:sp>
      <p:sp>
        <p:nvSpPr>
          <p:cNvPr id="39" name="Rectangle 38"/>
          <p:cNvSpPr/>
          <p:nvPr/>
        </p:nvSpPr>
        <p:spPr>
          <a:xfrm>
            <a:off x="8348472" y="2962656"/>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48472" y="3035808"/>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핵심 가치</a:t>
            </a:r>
          </a:p>
        </p:txBody>
      </p:sp>
      <p:sp>
        <p:nvSpPr>
          <p:cNvPr id="41" name="TextBox 40"/>
          <p:cNvSpPr txBox="1"/>
          <p:nvPr/>
        </p:nvSpPr>
        <p:spPr>
          <a:xfrm>
            <a:off x="8348472" y="3264408"/>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현금흐름 × 정책 × 목표를 잇는 실행 계획과 유지 코칭</a:t>
            </a:r>
          </a:p>
        </p:txBody>
      </p:sp>
      <p:sp>
        <p:nvSpPr>
          <p:cNvPr id="42" name="Rectangle 41"/>
          <p:cNvSpPr/>
          <p:nvPr/>
        </p:nvSpPr>
        <p:spPr>
          <a:xfrm>
            <a:off x="8348472" y="3721607"/>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48472" y="3794759"/>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개인화 기준</a:t>
            </a:r>
          </a:p>
        </p:txBody>
      </p:sp>
      <p:sp>
        <p:nvSpPr>
          <p:cNvPr id="44" name="TextBox 43"/>
          <p:cNvSpPr txBox="1"/>
          <p:nvPr/>
        </p:nvSpPr>
        <p:spPr>
          <a:xfrm>
            <a:off x="8348472" y="4023359"/>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재무 상황 + 인적 조건 + 목표·약속(기억)</a:t>
            </a:r>
          </a:p>
        </p:txBody>
      </p:sp>
      <p:sp>
        <p:nvSpPr>
          <p:cNvPr id="45" name="Rectangle 44"/>
          <p:cNvSpPr/>
          <p:nvPr/>
        </p:nvSpPr>
        <p:spPr>
          <a:xfrm>
            <a:off x="8348472" y="4480559"/>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348472" y="4553712"/>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한계</a:t>
            </a:r>
          </a:p>
        </p:txBody>
      </p:sp>
      <p:sp>
        <p:nvSpPr>
          <p:cNvPr id="47" name="TextBox 46"/>
          <p:cNvSpPr txBox="1"/>
          <p:nvPr/>
        </p:nvSpPr>
        <p:spPr>
          <a:xfrm>
            <a:off x="8348472" y="4782312"/>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계좌 자동 연동 대신 직접 입력해 민감정보 최소화</a:t>
            </a:r>
          </a:p>
        </p:txBody>
      </p:sp>
      <p:sp>
        <p:nvSpPr>
          <p:cNvPr id="48" name="Rectangle 47"/>
          <p:cNvSpPr/>
          <p:nvPr/>
        </p:nvSpPr>
        <p:spPr>
          <a:xfrm>
            <a:off x="8348472" y="5239512"/>
            <a:ext cx="301752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348472" y="5312664"/>
            <a:ext cx="301752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중립성</a:t>
            </a:r>
          </a:p>
        </p:txBody>
      </p:sp>
      <p:sp>
        <p:nvSpPr>
          <p:cNvPr id="50" name="TextBox 49"/>
          <p:cNvSpPr txBox="1"/>
          <p:nvPr/>
        </p:nvSpPr>
        <p:spPr>
          <a:xfrm>
            <a:off x="8348472" y="5541264"/>
            <a:ext cx="3017520" cy="45720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상품 판매·중개를 하지 않음</a:t>
            </a:r>
          </a:p>
        </p:txBody>
      </p:sp>
      <p:sp>
        <p:nvSpPr>
          <p:cNvPr id="51" name="TextBox 50"/>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해결</a:t>
            </a:r>
          </a:p>
        </p:txBody>
      </p:sp>
      <p:sp>
        <p:nvSpPr>
          <p:cNvPr id="52" name="TextBox 51"/>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02  해결</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진단 → 설계 → 매칭 → 실행 → 유지</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가상 인물 '지우' (27세, 중소기업 1년 차, 월 실수령 245만 원)의 여정</a:t>
            </a:r>
          </a:p>
        </p:txBody>
      </p:sp>
      <p:sp>
        <p:nvSpPr>
          <p:cNvPr id="5" name="Rounded Rectangle 4"/>
          <p:cNvSpPr/>
          <p:nvPr/>
        </p:nvSpPr>
        <p:spPr>
          <a:xfrm>
            <a:off x="548640" y="2011680"/>
            <a:ext cx="2011680" cy="2606040"/>
          </a:xfrm>
          <a:prstGeom prst="roundRect">
            <a:avLst>
              <a:gd name="adj" fmla="val 772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2240280"/>
            <a:ext cx="457200" cy="45720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1</a:t>
            </a:r>
          </a:p>
        </p:txBody>
      </p:sp>
      <p:sp>
        <p:nvSpPr>
          <p:cNvPr id="7" name="TextBox 6"/>
          <p:cNvSpPr txBox="1"/>
          <p:nvPr/>
        </p:nvSpPr>
        <p:spPr>
          <a:xfrm>
            <a:off x="777240" y="2834640"/>
            <a:ext cx="1554480" cy="365760"/>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진단</a:t>
            </a:r>
          </a:p>
        </p:txBody>
      </p:sp>
      <p:sp>
        <p:nvSpPr>
          <p:cNvPr id="8" name="TextBox 7"/>
          <p:cNvSpPr txBox="1"/>
          <p:nvPr/>
        </p:nvSpPr>
        <p:spPr>
          <a:xfrm>
            <a:off x="777240" y="3291840"/>
            <a:ext cx="1554480" cy="77724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질문 카드로 소득·지출·대출·목표를 파악</a:t>
            </a:r>
          </a:p>
        </p:txBody>
      </p:sp>
      <p:sp>
        <p:nvSpPr>
          <p:cNvPr id="9" name="Rectangle 8"/>
          <p:cNvSpPr/>
          <p:nvPr/>
        </p:nvSpPr>
        <p:spPr>
          <a:xfrm>
            <a:off x="777240" y="4050791"/>
            <a:ext cx="155448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133087"/>
            <a:ext cx="16459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5분, 질문 10~12개</a:t>
            </a:r>
          </a:p>
        </p:txBody>
      </p:sp>
      <p:cxnSp>
        <p:nvCxnSpPr>
          <p:cNvPr id="11" name="Connector 10"/>
          <p:cNvCxnSpPr/>
          <p:nvPr/>
        </p:nvCxnSpPr>
        <p:spPr>
          <a:xfrm>
            <a:off x="2587752" y="3268980"/>
            <a:ext cx="20345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8638" y="2011680"/>
            <a:ext cx="2011680" cy="2606040"/>
          </a:xfrm>
          <a:prstGeom prst="roundRect">
            <a:avLst>
              <a:gd name="adj" fmla="val 772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047238" y="2240280"/>
            <a:ext cx="457200" cy="457200"/>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2</a:t>
            </a:r>
          </a:p>
        </p:txBody>
      </p:sp>
      <p:sp>
        <p:nvSpPr>
          <p:cNvPr id="14" name="TextBox 13"/>
          <p:cNvSpPr txBox="1"/>
          <p:nvPr/>
        </p:nvSpPr>
        <p:spPr>
          <a:xfrm>
            <a:off x="3047238" y="2834640"/>
            <a:ext cx="1554480" cy="365760"/>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설계</a:t>
            </a:r>
          </a:p>
        </p:txBody>
      </p:sp>
      <p:sp>
        <p:nvSpPr>
          <p:cNvPr id="15" name="TextBox 14"/>
          <p:cNvSpPr txBox="1"/>
          <p:nvPr/>
        </p:nvSpPr>
        <p:spPr>
          <a:xfrm>
            <a:off x="3047238" y="3291840"/>
            <a:ext cx="1554480" cy="77724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계산 엔진이 월급을 필수지출·생활비·비상금·저축으로 배분</a:t>
            </a:r>
          </a:p>
        </p:txBody>
      </p:sp>
      <p:sp>
        <p:nvSpPr>
          <p:cNvPr id="16" name="Rectangle 15"/>
          <p:cNvSpPr/>
          <p:nvPr/>
        </p:nvSpPr>
        <p:spPr>
          <a:xfrm>
            <a:off x="3047238" y="4050791"/>
            <a:ext cx="155448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01518" y="4133087"/>
            <a:ext cx="16459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저축 65만·비상금 19만</a:t>
            </a:r>
          </a:p>
        </p:txBody>
      </p:sp>
      <p:cxnSp>
        <p:nvCxnSpPr>
          <p:cNvPr id="18" name="Connector 17"/>
          <p:cNvCxnSpPr/>
          <p:nvPr/>
        </p:nvCxnSpPr>
        <p:spPr>
          <a:xfrm>
            <a:off x="4857750" y="3268980"/>
            <a:ext cx="20345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88636" y="2011680"/>
            <a:ext cx="2011680" cy="2606040"/>
          </a:xfrm>
          <a:prstGeom prst="roundRect">
            <a:avLst>
              <a:gd name="adj" fmla="val 772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317236" y="2240280"/>
            <a:ext cx="457200" cy="45720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3</a:t>
            </a:r>
          </a:p>
        </p:txBody>
      </p:sp>
      <p:sp>
        <p:nvSpPr>
          <p:cNvPr id="21" name="TextBox 20"/>
          <p:cNvSpPr txBox="1"/>
          <p:nvPr/>
        </p:nvSpPr>
        <p:spPr>
          <a:xfrm>
            <a:off x="5317236" y="2834640"/>
            <a:ext cx="1554480" cy="365760"/>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매칭</a:t>
            </a:r>
          </a:p>
        </p:txBody>
      </p:sp>
      <p:sp>
        <p:nvSpPr>
          <p:cNvPr id="22" name="TextBox 21"/>
          <p:cNvSpPr txBox="1"/>
          <p:nvPr/>
        </p:nvSpPr>
        <p:spPr>
          <a:xfrm>
            <a:off x="5317236" y="3291840"/>
            <a:ext cx="1554480" cy="77724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받을 수 있는 청년 혜택과 예상 수혜액을 출처와 함께</a:t>
            </a:r>
          </a:p>
        </p:txBody>
      </p:sp>
      <p:sp>
        <p:nvSpPr>
          <p:cNvPr id="23" name="Rectangle 22"/>
          <p:cNvSpPr/>
          <p:nvPr/>
        </p:nvSpPr>
        <p:spPr>
          <a:xfrm>
            <a:off x="5317236" y="4050791"/>
            <a:ext cx="155448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71516" y="4133087"/>
            <a:ext cx="16459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기여금 약 199만 원</a:t>
            </a:r>
          </a:p>
        </p:txBody>
      </p:sp>
      <p:cxnSp>
        <p:nvCxnSpPr>
          <p:cNvPr id="25" name="Connector 24"/>
          <p:cNvCxnSpPr/>
          <p:nvPr/>
        </p:nvCxnSpPr>
        <p:spPr>
          <a:xfrm>
            <a:off x="7127748" y="3268980"/>
            <a:ext cx="20345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58633" y="2011680"/>
            <a:ext cx="2011680" cy="2606040"/>
          </a:xfrm>
          <a:prstGeom prst="roundRect">
            <a:avLst>
              <a:gd name="adj" fmla="val 772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587233" y="2240280"/>
            <a:ext cx="457200" cy="45720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4</a:t>
            </a:r>
          </a:p>
        </p:txBody>
      </p:sp>
      <p:sp>
        <p:nvSpPr>
          <p:cNvPr id="28" name="TextBox 27"/>
          <p:cNvSpPr txBox="1"/>
          <p:nvPr/>
        </p:nvSpPr>
        <p:spPr>
          <a:xfrm>
            <a:off x="7587233" y="2834640"/>
            <a:ext cx="1554480" cy="365760"/>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실행</a:t>
            </a:r>
          </a:p>
        </p:txBody>
      </p:sp>
      <p:sp>
        <p:nvSpPr>
          <p:cNvPr id="29" name="TextBox 28"/>
          <p:cNvSpPr txBox="1"/>
          <p:nvPr/>
        </p:nvSpPr>
        <p:spPr>
          <a:xfrm>
            <a:off x="7587233" y="3291840"/>
            <a:ext cx="1554480" cy="77724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"이거 사도 돼?" 같은 질문에 내 숫자로 답하고 목표를 조정</a:t>
            </a:r>
          </a:p>
        </p:txBody>
      </p:sp>
      <p:sp>
        <p:nvSpPr>
          <p:cNvPr id="30" name="Rectangle 29"/>
          <p:cNvSpPr/>
          <p:nvPr/>
        </p:nvSpPr>
        <p:spPr>
          <a:xfrm>
            <a:off x="7587233" y="4050791"/>
            <a:ext cx="155448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41513" y="4133087"/>
            <a:ext cx="16459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30만 쓰면 저축 16만</a:t>
            </a:r>
          </a:p>
        </p:txBody>
      </p:sp>
      <p:cxnSp>
        <p:nvCxnSpPr>
          <p:cNvPr id="32" name="Connector 31"/>
          <p:cNvCxnSpPr/>
          <p:nvPr/>
        </p:nvCxnSpPr>
        <p:spPr>
          <a:xfrm>
            <a:off x="9397745" y="3268980"/>
            <a:ext cx="203455"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628632" y="2011680"/>
            <a:ext cx="2011680" cy="2606040"/>
          </a:xfrm>
          <a:prstGeom prst="roundRect">
            <a:avLst>
              <a:gd name="adj" fmla="val 772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857232" y="2240280"/>
            <a:ext cx="457200" cy="457200"/>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5</a:t>
            </a:r>
          </a:p>
        </p:txBody>
      </p:sp>
      <p:sp>
        <p:nvSpPr>
          <p:cNvPr id="35" name="TextBox 34"/>
          <p:cNvSpPr txBox="1"/>
          <p:nvPr/>
        </p:nvSpPr>
        <p:spPr>
          <a:xfrm>
            <a:off x="9857232" y="2834640"/>
            <a:ext cx="1554480" cy="365760"/>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유지</a:t>
            </a:r>
          </a:p>
        </p:txBody>
      </p:sp>
      <p:sp>
        <p:nvSpPr>
          <p:cNvPr id="36" name="TextBox 35"/>
          <p:cNvSpPr txBox="1"/>
          <p:nvPr/>
        </p:nvSpPr>
        <p:spPr>
          <a:xfrm>
            <a:off x="9857232" y="3291840"/>
            <a:ext cx="1554480" cy="777240"/>
          </a:xfrm>
          <a:prstGeom prst="rect">
            <a:avLst/>
          </a:prstGeom>
          <a:noFill/>
        </p:spPr>
        <p:txBody>
          <a:bodyPr wrap="square" lIns="0" tIns="0" rIns="0" bIns="0" anchor="t">
            <a:noAutofit/>
          </a:bodyPr>
          <a:lstStyle/>
          <a:p>
            <a:pPr algn="l">
              <a:lnSpc>
                <a:spcPct val="120000"/>
              </a:lnSpc>
              <a:spcAft>
                <a:spcPts val="0"/>
              </a:spcAft>
            </a:pPr>
            <a:r>
              <a:rPr lang="ko-KR" sz="1300" b="0">
                <a:solidFill>
                  <a:srgbClr val="31302E"/>
                </a:solidFill>
                <a:latin typeface="Paperlogy 4 Regular"/>
                <a:ea typeface="Paperlogy 4 Regular"/>
                <a:cs typeface="Paperlogy 4 Regular"/>
              </a:rPr>
              <a:t>약속을 기억하고 매주 목표 진척과 납입 위험을 점검</a:t>
            </a:r>
          </a:p>
        </p:txBody>
      </p:sp>
      <p:sp>
        <p:nvSpPr>
          <p:cNvPr id="37" name="Rectangle 36"/>
          <p:cNvSpPr/>
          <p:nvPr/>
        </p:nvSpPr>
        <p:spPr>
          <a:xfrm>
            <a:off x="9857232" y="4050791"/>
            <a:ext cx="1554480"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11511" y="4133087"/>
            <a:ext cx="16459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배달 주 2회 약속 기억</a:t>
            </a:r>
          </a:p>
        </p:txBody>
      </p:sp>
      <p:sp>
        <p:nvSpPr>
          <p:cNvPr id="39" name="Rounded Rectangle 38"/>
          <p:cNvSpPr/>
          <p:nvPr/>
        </p:nvSpPr>
        <p:spPr>
          <a:xfrm>
            <a:off x="548640" y="4818888"/>
            <a:ext cx="11091672" cy="1261872"/>
          </a:xfrm>
          <a:prstGeom prst="roundRect">
            <a:avLst>
              <a:gd name="adj" fmla="val 12318"/>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68680" y="5166360"/>
            <a:ext cx="310896" cy="310896"/>
          </a:xfrm>
          <a:prstGeom prst="ellipse">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5001768"/>
            <a:ext cx="292608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지우의 경우</a:t>
            </a:r>
          </a:p>
        </p:txBody>
      </p:sp>
      <p:sp>
        <p:nvSpPr>
          <p:cNvPr id="42" name="TextBox 41"/>
          <p:cNvSpPr txBox="1"/>
          <p:nvPr/>
        </p:nvSpPr>
        <p:spPr>
          <a:xfrm>
            <a:off x="1371600" y="5394960"/>
            <a:ext cx="9902952" cy="640080"/>
          </a:xfrm>
          <a:prstGeom prst="rect">
            <a:avLst/>
          </a:prstGeom>
          <a:noFill/>
        </p:spPr>
        <p:txBody>
          <a:bodyPr wrap="square" lIns="0" tIns="0" rIns="0" bIns="0" anchor="t">
            <a:noAutofit/>
          </a:bodyPr>
          <a:lstStyle/>
          <a:p>
            <a:pPr algn="l">
              <a:lnSpc>
                <a:spcPct val="125000"/>
              </a:lnSpc>
              <a:spcAft>
                <a:spcPts val="0"/>
              </a:spcAft>
            </a:pPr>
            <a:r>
              <a:rPr lang="ko-KR" sz="1500" b="0">
                <a:solidFill>
                  <a:srgbClr val="31302E"/>
                </a:solidFill>
                <a:latin typeface="Paperlogy 4 Regular"/>
                <a:ea typeface="Paperlogy 4 Regular"/>
                <a:cs typeface="Paperlogy 4 Regular"/>
              </a:rPr>
              <a:t>목표 '2년 안에 전세보증금 3천만 원'은 지금 속도(월 46만 원)로는 66개월이 걸립니다. 코치는 기간 조정, 청년미래적금 기여금 활용, 새는 지출 줄이기를 숫자와 함께 제안합니다.</a:t>
            </a:r>
          </a:p>
        </p:txBody>
      </p:sp>
      <p:sp>
        <p:nvSpPr>
          <p:cNvPr id="43" name="TextBox 42"/>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해결</a:t>
            </a:r>
          </a:p>
        </p:txBody>
      </p:sp>
      <p:sp>
        <p:nvSpPr>
          <p:cNvPr id="44" name="TextBox 43"/>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02  해결</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실제로 동작하는 MVP</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모바일 웹·PWA  ·  예시 계정으로 로그인 없이 체험  ·  화면은 모의 AI 모드 기준</a:t>
            </a:r>
          </a:p>
        </p:txBody>
      </p:sp>
      <p:sp>
        <p:nvSpPr>
          <p:cNvPr id="5" name="Rounded Rectangle 4"/>
          <p:cNvSpPr/>
          <p:nvPr/>
        </p:nvSpPr>
        <p:spPr>
          <a:xfrm>
            <a:off x="548640" y="1911096"/>
            <a:ext cx="1917098" cy="3959352"/>
          </a:xfrm>
          <a:prstGeom prst="roundRect">
            <a:avLst>
              <a:gd name="adj" fmla="val 14309"/>
            </a:avLst>
          </a:prstGeom>
          <a:solidFill>
            <a:srgbClr val="1B1B1B"/>
          </a:solidFill>
          <a:ln>
            <a:no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0_onboarding.jpg"/>
          <p:cNvPicPr>
            <a:picLocks noChangeAspect="1"/>
          </p:cNvPicPr>
          <p:nvPr/>
        </p:nvPicPr>
        <p:blipFill>
          <a:blip r:embed="rId3"/>
          <a:stretch>
            <a:fillRect/>
          </a:stretch>
        </p:blipFill>
        <p:spPr>
          <a:xfrm>
            <a:off x="630936" y="1993392"/>
            <a:ext cx="1752506" cy="3794760"/>
          </a:xfrm>
          <a:prstGeom prst="roundRect">
            <a:avLst>
              <a:gd name="adj" fmla="val 9000"/>
            </a:avLst>
          </a:prstGeom>
        </p:spPr>
      </p:pic>
      <p:sp>
        <p:nvSpPr>
          <p:cNvPr id="7" name="TextBox 6"/>
          <p:cNvSpPr txBox="1"/>
          <p:nvPr/>
        </p:nvSpPr>
        <p:spPr>
          <a:xfrm>
            <a:off x="356615" y="5943600"/>
            <a:ext cx="2301146" cy="274320"/>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진단: 질문 카드</a:t>
            </a:r>
          </a:p>
        </p:txBody>
      </p:sp>
      <p:sp>
        <p:nvSpPr>
          <p:cNvPr id="8" name="Rounded Rectangle 7"/>
          <p:cNvSpPr/>
          <p:nvPr/>
        </p:nvSpPr>
        <p:spPr>
          <a:xfrm>
            <a:off x="2842283" y="1911096"/>
            <a:ext cx="1917098" cy="3959352"/>
          </a:xfrm>
          <a:prstGeom prst="roundRect">
            <a:avLst>
              <a:gd name="adj" fmla="val 14309"/>
            </a:avLst>
          </a:prstGeom>
          <a:solidFill>
            <a:srgbClr val="1B1B1B"/>
          </a:solidFill>
          <a:ln>
            <a:no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01_home.jpg"/>
          <p:cNvPicPr>
            <a:picLocks noChangeAspect="1"/>
          </p:cNvPicPr>
          <p:nvPr/>
        </p:nvPicPr>
        <p:blipFill>
          <a:blip r:embed="rId4"/>
          <a:stretch>
            <a:fillRect/>
          </a:stretch>
        </p:blipFill>
        <p:spPr>
          <a:xfrm>
            <a:off x="2924579" y="1993392"/>
            <a:ext cx="1752506" cy="3794760"/>
          </a:xfrm>
          <a:prstGeom prst="roundRect">
            <a:avLst>
              <a:gd name="adj" fmla="val 9000"/>
            </a:avLst>
          </a:prstGeom>
        </p:spPr>
      </p:pic>
      <p:sp>
        <p:nvSpPr>
          <p:cNvPr id="10" name="TextBox 9"/>
          <p:cNvSpPr txBox="1"/>
          <p:nvPr/>
        </p:nvSpPr>
        <p:spPr>
          <a:xfrm>
            <a:off x="2650259" y="5943600"/>
            <a:ext cx="2301146" cy="274320"/>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홈: 이번 달 요약</a:t>
            </a:r>
          </a:p>
        </p:txBody>
      </p:sp>
      <p:sp>
        <p:nvSpPr>
          <p:cNvPr id="11" name="Rounded Rectangle 10"/>
          <p:cNvSpPr/>
          <p:nvPr/>
        </p:nvSpPr>
        <p:spPr>
          <a:xfrm>
            <a:off x="5135926" y="1911096"/>
            <a:ext cx="1917098" cy="3959352"/>
          </a:xfrm>
          <a:prstGeom prst="roundRect">
            <a:avLst>
              <a:gd name="adj" fmla="val 14309"/>
            </a:avLst>
          </a:prstGeom>
          <a:solidFill>
            <a:srgbClr val="1B1B1B"/>
          </a:solidFill>
          <a:ln>
            <a:no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02_plan.jpg"/>
          <p:cNvPicPr>
            <a:picLocks noChangeAspect="1"/>
          </p:cNvPicPr>
          <p:nvPr/>
        </p:nvPicPr>
        <p:blipFill>
          <a:blip r:embed="rId5"/>
          <a:stretch>
            <a:fillRect/>
          </a:stretch>
        </p:blipFill>
        <p:spPr>
          <a:xfrm>
            <a:off x="5218222" y="1993392"/>
            <a:ext cx="1752506" cy="3794760"/>
          </a:xfrm>
          <a:prstGeom prst="roundRect">
            <a:avLst>
              <a:gd name="adj" fmla="val 9000"/>
            </a:avLst>
          </a:prstGeom>
        </p:spPr>
      </p:pic>
      <p:sp>
        <p:nvSpPr>
          <p:cNvPr id="13" name="TextBox 12"/>
          <p:cNvSpPr txBox="1"/>
          <p:nvPr/>
        </p:nvSpPr>
        <p:spPr>
          <a:xfrm>
            <a:off x="4943902" y="5943600"/>
            <a:ext cx="2301146" cy="274320"/>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월급 배분</a:t>
            </a:r>
          </a:p>
        </p:txBody>
      </p:sp>
      <p:sp>
        <p:nvSpPr>
          <p:cNvPr id="14" name="Rounded Rectangle 13"/>
          <p:cNvSpPr/>
          <p:nvPr/>
        </p:nvSpPr>
        <p:spPr>
          <a:xfrm>
            <a:off x="7429570" y="1911096"/>
            <a:ext cx="1917098" cy="3959352"/>
          </a:xfrm>
          <a:prstGeom prst="roundRect">
            <a:avLst>
              <a:gd name="adj" fmla="val 14309"/>
            </a:avLst>
          </a:prstGeom>
          <a:solidFill>
            <a:srgbClr val="1B1B1B"/>
          </a:solidFill>
          <a:ln>
            <a:no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03_benefit.jpg"/>
          <p:cNvPicPr>
            <a:picLocks noChangeAspect="1"/>
          </p:cNvPicPr>
          <p:nvPr/>
        </p:nvPicPr>
        <p:blipFill>
          <a:blip r:embed="rId6"/>
          <a:stretch>
            <a:fillRect/>
          </a:stretch>
        </p:blipFill>
        <p:spPr>
          <a:xfrm>
            <a:off x="7511866" y="1993392"/>
            <a:ext cx="1752506" cy="3794760"/>
          </a:xfrm>
          <a:prstGeom prst="roundRect">
            <a:avLst>
              <a:gd name="adj" fmla="val 9000"/>
            </a:avLst>
          </a:prstGeom>
        </p:spPr>
      </p:pic>
      <p:sp>
        <p:nvSpPr>
          <p:cNvPr id="16" name="TextBox 15"/>
          <p:cNvSpPr txBox="1"/>
          <p:nvPr/>
        </p:nvSpPr>
        <p:spPr>
          <a:xfrm>
            <a:off x="7237546" y="5943600"/>
            <a:ext cx="2301146" cy="274320"/>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혜택 자격 판정</a:t>
            </a:r>
          </a:p>
        </p:txBody>
      </p:sp>
      <p:sp>
        <p:nvSpPr>
          <p:cNvPr id="17" name="Rounded Rectangle 16"/>
          <p:cNvSpPr/>
          <p:nvPr/>
        </p:nvSpPr>
        <p:spPr>
          <a:xfrm>
            <a:off x="9723213" y="1911096"/>
            <a:ext cx="1917098" cy="3959352"/>
          </a:xfrm>
          <a:prstGeom prst="roundRect">
            <a:avLst>
              <a:gd name="adj" fmla="val 14309"/>
            </a:avLst>
          </a:prstGeom>
          <a:solidFill>
            <a:srgbClr val="1B1B1B"/>
          </a:solidFill>
          <a:ln>
            <a:no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04_coach.jpg"/>
          <p:cNvPicPr>
            <a:picLocks noChangeAspect="1"/>
          </p:cNvPicPr>
          <p:nvPr/>
        </p:nvPicPr>
        <p:blipFill>
          <a:blip r:embed="rId7"/>
          <a:stretch>
            <a:fillRect/>
          </a:stretch>
        </p:blipFill>
        <p:spPr>
          <a:xfrm>
            <a:off x="9805509" y="1993392"/>
            <a:ext cx="1752506" cy="3794760"/>
          </a:xfrm>
          <a:prstGeom prst="roundRect">
            <a:avLst>
              <a:gd name="adj" fmla="val 9000"/>
            </a:avLst>
          </a:prstGeom>
        </p:spPr>
      </p:pic>
      <p:sp>
        <p:nvSpPr>
          <p:cNvPr id="19" name="TextBox 18"/>
          <p:cNvSpPr txBox="1"/>
          <p:nvPr/>
        </p:nvSpPr>
        <p:spPr>
          <a:xfrm>
            <a:off x="9531189" y="5943600"/>
            <a:ext cx="2301146" cy="274320"/>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AI 코치</a:t>
            </a:r>
          </a:p>
        </p:txBody>
      </p:sp>
      <p:sp>
        <p:nvSpPr>
          <p:cNvPr id="20" name="TextBox 19"/>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해결</a:t>
            </a:r>
          </a:p>
        </p:txBody>
      </p:sp>
      <p:sp>
        <p:nvSpPr>
          <p:cNvPr id="21" name="TextBox 20"/>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3183"/>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463296"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03</a:t>
            </a:r>
          </a:p>
        </p:txBody>
      </p:sp>
      <p:sp>
        <p:nvSpPr>
          <p:cNvPr id="3" name="TextBox 2"/>
          <p:cNvSpPr txBox="1"/>
          <p:nvPr/>
        </p:nvSpPr>
        <p:spPr>
          <a:xfrm>
            <a:off x="548640" y="786384"/>
            <a:ext cx="7589520" cy="822960"/>
          </a:xfrm>
          <a:prstGeom prst="rect">
            <a:avLst/>
          </a:prstGeom>
          <a:noFill/>
        </p:spPr>
        <p:txBody>
          <a:bodyPr wrap="square" lIns="0" tIns="0" rIns="0" bIns="0" anchor="t">
            <a:noAutofit/>
          </a:bodyPr>
          <a:lstStyle/>
          <a:p>
            <a:pPr algn="l">
              <a:spcAft>
                <a:spcPts val="0"/>
              </a:spcAft>
            </a:pPr>
            <a:r>
              <a:rPr lang="ko-KR" sz="5000" b="0" spc="-120">
                <a:solidFill>
                  <a:srgbClr val="FFFFFF"/>
                </a:solidFill>
                <a:latin typeface="Paperlogy 7 Bold"/>
                <a:ea typeface="Paperlogy 7 Bold"/>
                <a:cs typeface="Paperlogy 7 Bold"/>
              </a:rPr>
              <a:t>AI는 꼭 필요한 곳에만</a:t>
            </a:r>
          </a:p>
        </p:txBody>
      </p:sp>
      <p:sp>
        <p:nvSpPr>
          <p:cNvPr id="4" name="TextBox 3"/>
          <p:cNvSpPr txBox="1"/>
          <p:nvPr/>
        </p:nvSpPr>
        <p:spPr>
          <a:xfrm>
            <a:off x="548640" y="1691640"/>
            <a:ext cx="7132320" cy="822960"/>
          </a:xfrm>
          <a:prstGeom prst="rect">
            <a:avLst/>
          </a:prstGeom>
          <a:noFill/>
        </p:spPr>
        <p:txBody>
          <a:bodyPr wrap="square" lIns="0" tIns="0" rIns="0" bIns="0" anchor="t">
            <a:noAutofit/>
          </a:bodyPr>
          <a:lstStyle/>
          <a:p>
            <a:pPr algn="l">
              <a:lnSpc>
                <a:spcPct val="130000"/>
              </a:lnSpc>
              <a:spcAft>
                <a:spcPts val="0"/>
              </a:spcAft>
            </a:pPr>
            <a:r>
              <a:rPr lang="ko-KR" sz="1900" b="0" spc="-20">
                <a:solidFill>
                  <a:srgbClr val="D9DDF2"/>
                </a:solidFill>
                <a:latin typeface="Paperlogy 7 Bold"/>
                <a:ea typeface="Paperlogy 7 Bold"/>
                <a:cs typeface="Paperlogy 7 Bold"/>
              </a:rPr>
              <a:t>틀리면 안 되는 것은 코드로, 근거는 공식 문서에서, 대화와 설명은 AI가 맡습니다</a:t>
            </a:r>
          </a:p>
        </p:txBody>
      </p:sp>
      <p:sp>
        <p:nvSpPr>
          <p:cNvPr id="5" name="Rounded Rectangle 4"/>
          <p:cNvSpPr/>
          <p:nvPr/>
        </p:nvSpPr>
        <p:spPr>
          <a:xfrm>
            <a:off x="8902598"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729569"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856878" y="5424054"/>
            <a:ext cx="2037283" cy="155448"/>
          </a:xfrm>
          <a:prstGeom prst="roundRect">
            <a:avLst>
              <a:gd name="adj" fmla="val 50000"/>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856878" y="4592781"/>
            <a:ext cx="2037283" cy="155448"/>
          </a:xfrm>
          <a:prstGeom prst="roundRect">
            <a:avLst>
              <a:gd name="adj" fmla="val 50000"/>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856878" y="3761509"/>
            <a:ext cx="2037283" cy="155448"/>
          </a:xfrm>
          <a:prstGeom prst="roundRect">
            <a:avLst>
              <a:gd name="adj" fmla="val 50000"/>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856878" y="2930236"/>
            <a:ext cx="2037283" cy="155448"/>
          </a:xfrm>
          <a:prstGeom prst="roundRect">
            <a:avLst>
              <a:gd name="adj" fmla="val 50000"/>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856878" y="2098963"/>
            <a:ext cx="2037283" cy="155448"/>
          </a:xfrm>
          <a:prstGeom prst="roundRect">
            <a:avLst>
              <a:gd name="adj" fmla="val 50000"/>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856878" y="1267690"/>
            <a:ext cx="2037283" cy="155448"/>
          </a:xfrm>
          <a:prstGeom prst="roundRect">
            <a:avLst>
              <a:gd name="adj" fmla="val 50000"/>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11896" y="1124712"/>
            <a:ext cx="64008" cy="64008"/>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334902" y="1344168"/>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07654" y="37033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508638" y="3154680"/>
            <a:ext cx="73152" cy="73152"/>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5632" y="5788152"/>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195913" y="534924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875520" y="795528"/>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292486" y="6007608"/>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354312" y="2880360"/>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570464" y="23317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195913" y="960120"/>
            <a:ext cx="384048" cy="384048"/>
          </a:xfrm>
          <a:prstGeom prst="ellipse">
            <a:avLst/>
          </a:prstGeom>
          <a:solidFill>
            <a:srgbClr val="62AEF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138160" y="4800600"/>
            <a:ext cx="274320" cy="274320"/>
          </a:xfrm>
          <a:prstGeom prst="ellipse">
            <a:avLst/>
          </a:prstGeom>
          <a:solidFill>
            <a:srgbClr val="FF64C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439144" y="4251960"/>
            <a:ext cx="201168" cy="201168"/>
          </a:xfrm>
          <a:prstGeom prst="ellipse">
            <a:avLst/>
          </a:prstGeom>
          <a:solidFill>
            <a:srgbClr val="D6B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48640" y="3017520"/>
            <a:ext cx="256032" cy="256032"/>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2926080"/>
            <a:ext cx="5486400" cy="411480"/>
          </a:xfrm>
          <a:prstGeom prst="rect">
            <a:avLst/>
          </a:prstGeom>
          <a:noFill/>
        </p:spPr>
        <p:txBody>
          <a:bodyPr wrap="square" lIns="0" tIns="0" rIns="0" bIns="0" anchor="t">
            <a:noAutofit/>
          </a:bodyPr>
          <a:lstStyle/>
          <a:p>
            <a:pPr algn="l">
              <a:spcAft>
                <a:spcPts val="0"/>
              </a:spcAft>
            </a:pPr>
            <a:r>
              <a:rPr lang="ko-KR" sz="2400" b="0" spc="-40">
                <a:solidFill>
                  <a:srgbClr val="FFFFFF"/>
                </a:solidFill>
                <a:latin typeface="Paperlogy 7 Bold"/>
                <a:ea typeface="Paperlogy 7 Bold"/>
                <a:cs typeface="Paperlogy 7 Bold"/>
              </a:rPr>
              <a:t>계산은 코드</a:t>
            </a:r>
          </a:p>
        </p:txBody>
      </p:sp>
      <p:sp>
        <p:nvSpPr>
          <p:cNvPr id="28" name="Oval 27"/>
          <p:cNvSpPr/>
          <p:nvPr/>
        </p:nvSpPr>
        <p:spPr>
          <a:xfrm>
            <a:off x="548640" y="3730752"/>
            <a:ext cx="256032" cy="256032"/>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3639312"/>
            <a:ext cx="5486400" cy="411480"/>
          </a:xfrm>
          <a:prstGeom prst="rect">
            <a:avLst/>
          </a:prstGeom>
          <a:noFill/>
        </p:spPr>
        <p:txBody>
          <a:bodyPr wrap="square" lIns="0" tIns="0" rIns="0" bIns="0" anchor="t">
            <a:noAutofit/>
          </a:bodyPr>
          <a:lstStyle/>
          <a:p>
            <a:pPr algn="l">
              <a:spcAft>
                <a:spcPts val="0"/>
              </a:spcAft>
            </a:pPr>
            <a:r>
              <a:rPr lang="ko-KR" sz="2400" b="0" spc="-40">
                <a:solidFill>
                  <a:srgbClr val="FFFFFF"/>
                </a:solidFill>
                <a:latin typeface="Paperlogy 7 Bold"/>
                <a:ea typeface="Paperlogy 7 Bold"/>
                <a:cs typeface="Paperlogy 7 Bold"/>
              </a:rPr>
              <a:t>근거는 공식 문서</a:t>
            </a:r>
          </a:p>
        </p:txBody>
      </p:sp>
      <p:sp>
        <p:nvSpPr>
          <p:cNvPr id="30" name="Oval 29"/>
          <p:cNvSpPr/>
          <p:nvPr/>
        </p:nvSpPr>
        <p:spPr>
          <a:xfrm>
            <a:off x="548640" y="4443983"/>
            <a:ext cx="256032" cy="256032"/>
          </a:xfrm>
          <a:prstGeom prst="ellipse">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4352544"/>
            <a:ext cx="5486400" cy="411480"/>
          </a:xfrm>
          <a:prstGeom prst="rect">
            <a:avLst/>
          </a:prstGeom>
          <a:noFill/>
        </p:spPr>
        <p:txBody>
          <a:bodyPr wrap="square" lIns="0" tIns="0" rIns="0" bIns="0" anchor="t">
            <a:noAutofit/>
          </a:bodyPr>
          <a:lstStyle/>
          <a:p>
            <a:pPr algn="l">
              <a:spcAft>
                <a:spcPts val="0"/>
              </a:spcAft>
            </a:pPr>
            <a:r>
              <a:rPr lang="ko-KR" sz="2400" b="0" spc="-40">
                <a:solidFill>
                  <a:srgbClr val="FFFFFF"/>
                </a:solidFill>
                <a:latin typeface="Paperlogy 7 Bold"/>
                <a:ea typeface="Paperlogy 7 Bold"/>
                <a:cs typeface="Paperlogy 7 Bold"/>
              </a:rPr>
              <a:t>대화와 설명은 AI</a:t>
            </a:r>
          </a:p>
        </p:txBody>
      </p:sp>
      <p:sp>
        <p:nvSpPr>
          <p:cNvPr id="32" name="TextBox 31"/>
          <p:cNvSpPr txBox="1"/>
          <p:nvPr/>
        </p:nvSpPr>
        <p:spPr>
          <a:xfrm>
            <a:off x="548640" y="5440680"/>
            <a:ext cx="7132320" cy="548640"/>
          </a:xfrm>
          <a:prstGeom prst="rect">
            <a:avLst/>
          </a:prstGeom>
          <a:noFill/>
        </p:spPr>
        <p:txBody>
          <a:bodyPr wrap="square" lIns="0" tIns="0" rIns="0" bIns="0" anchor="t">
            <a:noAutofit/>
          </a:bodyPr>
          <a:lstStyle/>
          <a:p>
            <a:pPr algn="l">
              <a:lnSpc>
                <a:spcPct val="130000"/>
              </a:lnSpc>
              <a:spcAft>
                <a:spcPts val="0"/>
              </a:spcAft>
            </a:pPr>
            <a:r>
              <a:rPr lang="ko-KR" sz="1300" b="0">
                <a:solidFill>
                  <a:srgbClr val="A9B2DE"/>
                </a:solidFill>
                <a:latin typeface="Paperlogy 4 Regular"/>
                <a:ea typeface="Paperlogy 4 Regular"/>
                <a:cs typeface="Paperlogy 4 Regular"/>
              </a:rPr>
              <a:t>이어서: AI를 쓰는 곳과 쓰지 않는 곳  ·  코치 Agent  ·  RAG  ·  안전장치와 품질 측정</a:t>
            </a:r>
          </a:p>
        </p:txBody>
      </p:sp>
      <p:sp>
        <p:nvSpPr>
          <p:cNvPr id="33" name="TextBox 32"/>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9B2DE"/>
                </a:solidFill>
                <a:latin typeface="Paperlogy 4 Regular"/>
                <a:ea typeface="Paperlogy 4 Regular"/>
                <a:cs typeface="Paperlogy 4 Regular"/>
              </a:rPr>
              <a:t>사다리  ·  AI 설계</a:t>
            </a:r>
          </a:p>
        </p:txBody>
      </p:sp>
      <p:sp>
        <p:nvSpPr>
          <p:cNvPr id="34" name="TextBox 33"/>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9B2DE"/>
                </a:solidFill>
                <a:latin typeface="Paperlogy 4 Regular"/>
                <a:ea typeface="Paperlogy 4 Regular"/>
                <a:cs typeface="Paperlogy 4 Regular"/>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194816"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03  AI 설계</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AI를 쓰는 곳과 쓰지 않는 곳</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틀리면 안 되는 판단은 코드로, 해석과 대화는 AI로</a:t>
            </a:r>
          </a:p>
        </p:txBody>
      </p:sp>
      <p:sp>
        <p:nvSpPr>
          <p:cNvPr id="5" name="Rounded Rectangle 4"/>
          <p:cNvSpPr/>
          <p:nvPr/>
        </p:nvSpPr>
        <p:spPr>
          <a:xfrm>
            <a:off x="548640" y="2011680"/>
            <a:ext cx="5454396" cy="3017520"/>
          </a:xfrm>
          <a:prstGeom prst="roundRect">
            <a:avLst>
              <a:gd name="adj" fmla="val 515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2286000"/>
            <a:ext cx="274320" cy="274320"/>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2231136"/>
            <a:ext cx="4448556" cy="384048"/>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AI가 맡는 일</a:t>
            </a:r>
          </a:p>
        </p:txBody>
      </p:sp>
      <p:sp>
        <p:nvSpPr>
          <p:cNvPr id="8" name="Oval 7"/>
          <p:cNvSpPr/>
          <p:nvPr/>
        </p:nvSpPr>
        <p:spPr>
          <a:xfrm>
            <a:off x="941832" y="2852928"/>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7" y="2761488"/>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진단의 목표 문장 해석 ("2년 안에 전세 3천")</a:t>
            </a:r>
          </a:p>
        </p:txBody>
      </p:sp>
      <p:sp>
        <p:nvSpPr>
          <p:cNvPr id="10" name="Oval 9"/>
          <p:cNvSpPr/>
          <p:nvPr/>
        </p:nvSpPr>
        <p:spPr>
          <a:xfrm>
            <a:off x="941832" y="3282696"/>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7" y="3191256"/>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질문 의도 파악과 도구 선택</a:t>
            </a:r>
          </a:p>
        </p:txBody>
      </p:sp>
      <p:sp>
        <p:nvSpPr>
          <p:cNvPr id="12" name="Oval 11"/>
          <p:cNvSpPr/>
          <p:nvPr/>
        </p:nvSpPr>
        <p:spPr>
          <a:xfrm>
            <a:off x="941832" y="3712463"/>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7" y="3621024"/>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플랜 설명: 계산 결과만 보고 쉽게 풀어 쓰기</a:t>
            </a:r>
          </a:p>
        </p:txBody>
      </p:sp>
      <p:sp>
        <p:nvSpPr>
          <p:cNvPr id="14" name="Oval 13"/>
          <p:cNvSpPr/>
          <p:nvPr/>
        </p:nvSpPr>
        <p:spPr>
          <a:xfrm>
            <a:off x="941832" y="4142231"/>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07007" y="4050791"/>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다음 대화에 쓸 약속·선호 추출</a:t>
            </a:r>
          </a:p>
        </p:txBody>
      </p:sp>
      <p:sp>
        <p:nvSpPr>
          <p:cNvPr id="16" name="Oval 15"/>
          <p:cNvSpPr/>
          <p:nvPr/>
        </p:nvSpPr>
        <p:spPr>
          <a:xfrm>
            <a:off x="941832" y="4572000"/>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07007" y="4480560"/>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(예정) 영수증 사진 인식</a:t>
            </a:r>
          </a:p>
        </p:txBody>
      </p:sp>
      <p:sp>
        <p:nvSpPr>
          <p:cNvPr id="18" name="Rounded Rectangle 17"/>
          <p:cNvSpPr/>
          <p:nvPr/>
        </p:nvSpPr>
        <p:spPr>
          <a:xfrm>
            <a:off x="6185916" y="2011680"/>
            <a:ext cx="5454396" cy="3017520"/>
          </a:xfrm>
          <a:prstGeom prst="roundRect">
            <a:avLst>
              <a:gd name="adj" fmla="val 515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05955" y="2286000"/>
            <a:ext cx="274320" cy="27432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17436" y="2231136"/>
            <a:ext cx="4448556" cy="384048"/>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코드가 맡는 일</a:t>
            </a:r>
          </a:p>
        </p:txBody>
      </p:sp>
      <p:sp>
        <p:nvSpPr>
          <p:cNvPr id="21" name="Oval 20"/>
          <p:cNvSpPr/>
          <p:nvPr/>
        </p:nvSpPr>
        <p:spPr>
          <a:xfrm>
            <a:off x="6579107" y="2852928"/>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44283" y="2761488"/>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금액·만기액·정부기여금 계산</a:t>
            </a:r>
          </a:p>
        </p:txBody>
      </p:sp>
      <p:sp>
        <p:nvSpPr>
          <p:cNvPr id="23" name="Oval 22"/>
          <p:cNvSpPr/>
          <p:nvPr/>
        </p:nvSpPr>
        <p:spPr>
          <a:xfrm>
            <a:off x="6579107" y="3282696"/>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44283" y="3191256"/>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정책 자격 판정: 나이·소득·주거·모집기간</a:t>
            </a:r>
          </a:p>
        </p:txBody>
      </p:sp>
      <p:sp>
        <p:nvSpPr>
          <p:cNvPr id="25" name="Oval 24"/>
          <p:cNvSpPr/>
          <p:nvPr/>
        </p:nvSpPr>
        <p:spPr>
          <a:xfrm>
            <a:off x="6579107" y="3712463"/>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44283" y="3621024"/>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정책 문서 검색 (BM25)</a:t>
            </a:r>
          </a:p>
        </p:txBody>
      </p:sp>
      <p:sp>
        <p:nvSpPr>
          <p:cNvPr id="27" name="Oval 26"/>
          <p:cNvSpPr/>
          <p:nvPr/>
        </p:nvSpPr>
        <p:spPr>
          <a:xfrm>
            <a:off x="6579107" y="4142231"/>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44283" y="4050791"/>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민감정보 가리기·투자권유 차단</a:t>
            </a:r>
          </a:p>
        </p:txBody>
      </p:sp>
      <p:sp>
        <p:nvSpPr>
          <p:cNvPr id="29" name="Oval 28"/>
          <p:cNvSpPr/>
          <p:nvPr/>
        </p:nvSpPr>
        <p:spPr>
          <a:xfrm>
            <a:off x="6579107" y="4572000"/>
            <a:ext cx="109728" cy="109728"/>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44283" y="4480560"/>
            <a:ext cx="4539996" cy="365760"/>
          </a:xfrm>
          <a:prstGeom prst="rect">
            <a:avLst/>
          </a:prstGeom>
          <a:noFill/>
        </p:spPr>
        <p:txBody>
          <a:bodyPr wrap="square" lIns="0" tIns="0" rIns="0" bIns="0" anchor="t">
            <a:noAutofit/>
          </a:bodyPr>
          <a:lstStyle/>
          <a:p>
            <a:pPr algn="l">
              <a:spcAft>
                <a:spcPts val="0"/>
              </a:spcAft>
            </a:pPr>
            <a:r>
              <a:rPr lang="ko-KR" sz="1500" b="0">
                <a:solidFill>
                  <a:srgbClr val="31302E"/>
                </a:solidFill>
                <a:latin typeface="Paperlogy 4 Regular"/>
                <a:ea typeface="Paperlogy 4 Regular"/>
                <a:cs typeface="Paperlogy 4 Regular"/>
              </a:rPr>
              <a:t>답변 속 금액이 계산 결과와 같은지 검증</a:t>
            </a:r>
          </a:p>
        </p:txBody>
      </p:sp>
      <p:sp>
        <p:nvSpPr>
          <p:cNvPr id="31" name="Rounded Rectangle 30"/>
          <p:cNvSpPr/>
          <p:nvPr/>
        </p:nvSpPr>
        <p:spPr>
          <a:xfrm>
            <a:off x="548640" y="5230368"/>
            <a:ext cx="11091672" cy="850392"/>
          </a:xfrm>
          <a:prstGeom prst="roundRect">
            <a:avLst>
              <a:gd name="adj" fmla="val 18279"/>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5340096"/>
            <a:ext cx="10451592" cy="640080"/>
          </a:xfrm>
          <a:prstGeom prst="rect">
            <a:avLst/>
          </a:prstGeom>
          <a:noFill/>
        </p:spPr>
        <p:txBody>
          <a:bodyPr wrap="square" lIns="0" tIns="0" rIns="0" bIns="0" anchor="ctr">
            <a:noAutofit/>
          </a:bodyPr>
          <a:lstStyle/>
          <a:p>
            <a:pPr algn="l">
              <a:lnSpc>
                <a:spcPct val="125000"/>
              </a:lnSpc>
              <a:spcAft>
                <a:spcPts val="0"/>
              </a:spcAft>
            </a:pPr>
            <a:r>
              <a:rPr lang="ko-KR" sz="1600" b="0">
                <a:solidFill>
                  <a:srgbClr val="111111"/>
                </a:solidFill>
                <a:latin typeface="Paperlogy 6 SemiBold"/>
                <a:ea typeface="Paperlogy 6 SemiBold"/>
                <a:cs typeface="Paperlogy 6 SemiBold"/>
              </a:rPr>
              <a:t>왜 이렇게 나눴나?  </a:t>
            </a:r>
            <a:r>
              <a:rPr lang="ko-KR" sz="1300" b="0">
                <a:solidFill>
                  <a:srgbClr val="31302E"/>
                </a:solidFill>
                <a:latin typeface="Paperlogy 4 Regular"/>
                <a:ea typeface="Paperlogy 4 Regular"/>
                <a:cs typeface="Paperlogy 4 Regular"/>
              </a:rPr>
              <a:t>LLM은 산술을 틀릴 수 있고, 정책은 자주 바뀝니다(청년도약계좌 신규가입 종료 2025.12, 청년미래적금 출시 2026.6). 그래서 숫자는 계산 엔진이, 정책은 최신 공식 문서가 근거가 됩니다.</a:t>
            </a:r>
          </a:p>
        </p:txBody>
      </p:sp>
      <p:sp>
        <p:nvSpPr>
          <p:cNvPr id="33" name="TextBox 32"/>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AI 설계</a:t>
            </a:r>
          </a:p>
        </p:txBody>
      </p:sp>
      <p:sp>
        <p:nvSpPr>
          <p:cNvPr id="34" name="TextBox 33"/>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194816"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03  AI 설계</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코치 Agent: 질문을 이해하고 도구를 고른다</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Claude 도구 호출 루프  ·  최대 6턴  ·  SSE 스트리밍  ·  API 키가 없으면 같은 도구를 쓰는 모의 코치</a:t>
            </a:r>
          </a:p>
        </p:txBody>
      </p:sp>
      <p:sp>
        <p:nvSpPr>
          <p:cNvPr id="5" name="Rounded Rectangle 4"/>
          <p:cNvSpPr/>
          <p:nvPr/>
        </p:nvSpPr>
        <p:spPr>
          <a:xfrm>
            <a:off x="548640" y="2994660"/>
            <a:ext cx="1143000" cy="777240"/>
          </a:xfrm>
          <a:prstGeom prst="roundRect">
            <a:avLst>
              <a:gd name="adj" fmla="val 2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994660"/>
            <a:ext cx="1051560" cy="777240"/>
          </a:xfrm>
          <a:prstGeom prst="rect">
            <a:avLst/>
          </a:prstGeom>
          <a:noFill/>
        </p:spPr>
        <p:txBody>
          <a:bodyPr wrap="square" lIns="0" tIns="0" rIns="0" bIns="0" anchor="ctr">
            <a:noAutofit/>
          </a:bodyPr>
          <a:lstStyle/>
          <a:p>
            <a:pPr algn="ctr">
              <a:spcAft>
                <a:spcPts val="0"/>
              </a:spcAft>
            </a:pPr>
            <a:r>
              <a:rPr lang="ko-KR" sz="1600" b="0">
                <a:solidFill>
                  <a:srgbClr val="111111"/>
                </a:solidFill>
                <a:latin typeface="Paperlogy 6 SemiBold"/>
                <a:ea typeface="Paperlogy 6 SemiBold"/>
                <a:cs typeface="Paperlogy 6 SemiBold"/>
              </a:rPr>
              <a:t>질문</a:t>
            </a:r>
          </a:p>
        </p:txBody>
      </p:sp>
      <p:cxnSp>
        <p:nvCxnSpPr>
          <p:cNvPr id="7" name="Connector 6"/>
          <p:cNvCxnSpPr/>
          <p:nvPr/>
        </p:nvCxnSpPr>
        <p:spPr>
          <a:xfrm>
            <a:off x="1719072" y="3383280"/>
            <a:ext cx="265176" cy="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11680" y="2834640"/>
            <a:ext cx="1874519" cy="1097280"/>
          </a:xfrm>
          <a:prstGeom prst="roundRect">
            <a:avLst>
              <a:gd name="adj" fmla="val 14166"/>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76272" y="2999232"/>
            <a:ext cx="1545336" cy="347472"/>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입력 가드레일</a:t>
            </a:r>
          </a:p>
        </p:txBody>
      </p:sp>
      <p:sp>
        <p:nvSpPr>
          <p:cNvPr id="10" name="TextBox 9"/>
          <p:cNvSpPr txBox="1"/>
          <p:nvPr/>
        </p:nvSpPr>
        <p:spPr>
          <a:xfrm>
            <a:off x="2121408" y="3383280"/>
            <a:ext cx="1655063" cy="548640"/>
          </a:xfrm>
          <a:prstGeom prst="rect">
            <a:avLst/>
          </a:prstGeom>
          <a:noFill/>
        </p:spPr>
        <p:txBody>
          <a:bodyPr wrap="square" lIns="0" tIns="0" rIns="0" bIns="0" anchor="t">
            <a:noAutofit/>
          </a:bodyPr>
          <a:lstStyle/>
          <a:p>
            <a:pPr algn="ctr">
              <a:lnSpc>
                <a:spcPct val="115000"/>
              </a:lnSpc>
              <a:spcAft>
                <a:spcPts val="0"/>
              </a:spcAft>
            </a:pPr>
            <a:r>
              <a:rPr lang="ko-KR" sz="1150" b="0">
                <a:solidFill>
                  <a:srgbClr val="615D59"/>
                </a:solidFill>
                <a:latin typeface="Paperlogy 4 Regular"/>
                <a:ea typeface="Paperlogy 4 Regular"/>
                <a:cs typeface="Paperlogy 4 Regular"/>
              </a:rPr>
              <a:t>민감정보 마스킹
투자권유 요청 탐지</a:t>
            </a:r>
          </a:p>
        </p:txBody>
      </p:sp>
      <p:cxnSp>
        <p:nvCxnSpPr>
          <p:cNvPr id="11" name="Connector 10"/>
          <p:cNvCxnSpPr/>
          <p:nvPr/>
        </p:nvCxnSpPr>
        <p:spPr>
          <a:xfrm>
            <a:off x="3913632" y="3383280"/>
            <a:ext cx="283464" cy="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24528" y="2674620"/>
            <a:ext cx="2286000" cy="1417320"/>
          </a:xfrm>
          <a:prstGeom prst="roundRect">
            <a:avLst>
              <a:gd name="adj" fmla="val 10967"/>
            </a:avLst>
          </a:prstGeom>
          <a:solidFill>
            <a:srgbClr val="FFFFFF"/>
          </a:solidFill>
          <a:ln w="9525">
            <a:solidFill>
              <a:srgbClr val="E6E6E6"/>
            </a:solidFill>
          </a:ln>
          <a:effectLst>
            <a:outerShdw blurRad="330200" dist="76200" dir="5400000" algn="t" rotWithShape="0">
              <a:srgbClr val="000000">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2839212"/>
            <a:ext cx="1956816" cy="347472"/>
          </a:xfrm>
          <a:prstGeom prst="rect">
            <a:avLst/>
          </a:prstGeom>
          <a:noFill/>
        </p:spPr>
        <p:txBody>
          <a:bodyPr wrap="square" lIns="0" tIns="0" rIns="0" bIns="0" anchor="t">
            <a:noAutofit/>
          </a:bodyPr>
          <a:lstStyle/>
          <a:p>
            <a:pPr algn="ctr">
              <a:spcAft>
                <a:spcPts val="0"/>
              </a:spcAft>
            </a:pPr>
            <a:r>
              <a:rPr lang="ko-KR" sz="1900" b="0" spc="-20">
                <a:solidFill>
                  <a:srgbClr val="111111"/>
                </a:solidFill>
                <a:latin typeface="Paperlogy 7 Bold"/>
                <a:ea typeface="Paperlogy 7 Bold"/>
                <a:cs typeface="Paperlogy 7 Bold"/>
              </a:rPr>
              <a:t>코치 Agent</a:t>
            </a:r>
          </a:p>
        </p:txBody>
      </p:sp>
      <p:sp>
        <p:nvSpPr>
          <p:cNvPr id="14" name="TextBox 13"/>
          <p:cNvSpPr txBox="1"/>
          <p:nvPr/>
        </p:nvSpPr>
        <p:spPr>
          <a:xfrm>
            <a:off x="4334256" y="3332988"/>
            <a:ext cx="2066543" cy="548640"/>
          </a:xfrm>
          <a:prstGeom prst="rect">
            <a:avLst/>
          </a:prstGeom>
          <a:noFill/>
        </p:spPr>
        <p:txBody>
          <a:bodyPr wrap="square" lIns="0" tIns="0" rIns="0" bIns="0" anchor="t">
            <a:noAutofit/>
          </a:bodyPr>
          <a:lstStyle/>
          <a:p>
            <a:pPr algn="ctr">
              <a:lnSpc>
                <a:spcPct val="115000"/>
              </a:lnSpc>
              <a:spcAft>
                <a:spcPts val="0"/>
              </a:spcAft>
            </a:pPr>
            <a:r>
              <a:rPr lang="ko-KR" sz="1150" b="0">
                <a:solidFill>
                  <a:srgbClr val="615D59"/>
                </a:solidFill>
                <a:latin typeface="Paperlogy 4 Regular"/>
                <a:ea typeface="Paperlogy 4 Regular"/>
                <a:cs typeface="Paperlogy 4 Regular"/>
              </a:rPr>
              <a:t>Claude Opus 5.5
도구 선택 · 설명</a:t>
            </a:r>
          </a:p>
        </p:txBody>
      </p:sp>
      <p:cxnSp>
        <p:nvCxnSpPr>
          <p:cNvPr id="15" name="Connector 14"/>
          <p:cNvCxnSpPr/>
          <p:nvPr/>
        </p:nvCxnSpPr>
        <p:spPr>
          <a:xfrm>
            <a:off x="6537960" y="3383280"/>
            <a:ext cx="283464" cy="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48856" y="2834640"/>
            <a:ext cx="1874519" cy="1097280"/>
          </a:xfrm>
          <a:prstGeom prst="roundRect">
            <a:avLst>
              <a:gd name="adj" fmla="val 14166"/>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13448" y="2999232"/>
            <a:ext cx="1545336" cy="347472"/>
          </a:xfrm>
          <a:prstGeom prst="rect">
            <a:avLst/>
          </a:prstGeom>
          <a:noFill/>
        </p:spPr>
        <p:txBody>
          <a:bodyPr wrap="square" lIns="0" tIns="0" rIns="0" bIns="0" anchor="t">
            <a:noAutofit/>
          </a:bodyPr>
          <a:lstStyle/>
          <a:p>
            <a:pPr algn="ctr">
              <a:spcAft>
                <a:spcPts val="0"/>
              </a:spcAft>
            </a:pPr>
            <a:r>
              <a:rPr lang="ko-KR" sz="1600" b="0">
                <a:solidFill>
                  <a:srgbClr val="111111"/>
                </a:solidFill>
                <a:latin typeface="Paperlogy 6 SemiBold"/>
                <a:ea typeface="Paperlogy 6 SemiBold"/>
                <a:cs typeface="Paperlogy 6 SemiBold"/>
              </a:rPr>
              <a:t>출력 가드레일</a:t>
            </a:r>
          </a:p>
        </p:txBody>
      </p:sp>
      <p:sp>
        <p:nvSpPr>
          <p:cNvPr id="18" name="TextBox 17"/>
          <p:cNvSpPr txBox="1"/>
          <p:nvPr/>
        </p:nvSpPr>
        <p:spPr>
          <a:xfrm>
            <a:off x="6958584" y="3383280"/>
            <a:ext cx="1655063" cy="548640"/>
          </a:xfrm>
          <a:prstGeom prst="rect">
            <a:avLst/>
          </a:prstGeom>
          <a:noFill/>
        </p:spPr>
        <p:txBody>
          <a:bodyPr wrap="square" lIns="0" tIns="0" rIns="0" bIns="0" anchor="t">
            <a:noAutofit/>
          </a:bodyPr>
          <a:lstStyle/>
          <a:p>
            <a:pPr algn="ctr">
              <a:lnSpc>
                <a:spcPct val="115000"/>
              </a:lnSpc>
              <a:spcAft>
                <a:spcPts val="0"/>
              </a:spcAft>
            </a:pPr>
            <a:r>
              <a:rPr lang="ko-KR" sz="1150" b="0">
                <a:solidFill>
                  <a:srgbClr val="615D59"/>
                </a:solidFill>
                <a:latin typeface="Paperlogy 4 Regular"/>
                <a:ea typeface="Paperlogy 4 Regular"/>
                <a:cs typeface="Paperlogy 4 Regular"/>
              </a:rPr>
              <a:t>권유 문구 교체
근거 없는 금액 표시</a:t>
            </a:r>
          </a:p>
        </p:txBody>
      </p:sp>
      <p:cxnSp>
        <p:nvCxnSpPr>
          <p:cNvPr id="19" name="Connector 18"/>
          <p:cNvCxnSpPr/>
          <p:nvPr/>
        </p:nvCxnSpPr>
        <p:spPr>
          <a:xfrm>
            <a:off x="8750807" y="3383280"/>
            <a:ext cx="283465" cy="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61704" y="2994660"/>
            <a:ext cx="1188720" cy="777240"/>
          </a:xfrm>
          <a:prstGeom prst="roundRect">
            <a:avLst>
              <a:gd name="adj" fmla="val 2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07424" y="2994660"/>
            <a:ext cx="1097280" cy="777240"/>
          </a:xfrm>
          <a:prstGeom prst="rect">
            <a:avLst/>
          </a:prstGeom>
          <a:noFill/>
        </p:spPr>
        <p:txBody>
          <a:bodyPr wrap="square" lIns="0" tIns="0" rIns="0" bIns="0" anchor="ctr">
            <a:noAutofit/>
          </a:bodyPr>
          <a:lstStyle/>
          <a:p>
            <a:pPr algn="ctr">
              <a:spcAft>
                <a:spcPts val="0"/>
              </a:spcAft>
            </a:pPr>
            <a:r>
              <a:rPr lang="ko-KR" sz="1600" b="0">
                <a:solidFill>
                  <a:srgbClr val="111111"/>
                </a:solidFill>
                <a:latin typeface="Paperlogy 6 SemiBold"/>
                <a:ea typeface="Paperlogy 6 SemiBold"/>
                <a:cs typeface="Paperlogy 6 SemiBold"/>
              </a:rPr>
              <a:t>답변 + 출처</a:t>
            </a:r>
          </a:p>
        </p:txBody>
      </p:sp>
      <p:cxnSp>
        <p:nvCxnSpPr>
          <p:cNvPr id="22" name="Connector 21"/>
          <p:cNvCxnSpPr/>
          <p:nvPr/>
        </p:nvCxnSpPr>
        <p:spPr>
          <a:xfrm>
            <a:off x="10277856" y="3383280"/>
            <a:ext cx="283464" cy="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588752" y="2994660"/>
            <a:ext cx="1051560" cy="777240"/>
          </a:xfrm>
          <a:prstGeom prst="roundRect">
            <a:avLst>
              <a:gd name="adj" fmla="val 2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34472" y="2994660"/>
            <a:ext cx="960119" cy="777240"/>
          </a:xfrm>
          <a:prstGeom prst="rect">
            <a:avLst/>
          </a:prstGeom>
          <a:noFill/>
        </p:spPr>
        <p:txBody>
          <a:bodyPr wrap="square" lIns="0" tIns="0" rIns="0" bIns="0" anchor="ctr">
            <a:noAutofit/>
          </a:bodyPr>
          <a:lstStyle/>
          <a:p>
            <a:pPr algn="ctr">
              <a:spcAft>
                <a:spcPts val="0"/>
              </a:spcAft>
            </a:pPr>
            <a:r>
              <a:rPr lang="ko-KR" sz="1600" b="0">
                <a:solidFill>
                  <a:srgbClr val="111111"/>
                </a:solidFill>
                <a:latin typeface="Paperlogy 6 SemiBold"/>
                <a:ea typeface="Paperlogy 6 SemiBold"/>
                <a:cs typeface="Paperlogy 6 SemiBold"/>
              </a:rPr>
              <a:t>장기 메모리</a:t>
            </a:r>
          </a:p>
        </p:txBody>
      </p:sp>
      <p:cxnSp>
        <p:nvCxnSpPr>
          <p:cNvPr id="25" name="Connector 24"/>
          <p:cNvCxnSpPr/>
          <p:nvPr/>
        </p:nvCxnSpPr>
        <p:spPr>
          <a:xfrm>
            <a:off x="5367528" y="4114800"/>
            <a:ext cx="0" cy="530352"/>
          </a:xfrm>
          <a:prstGeom prst="line">
            <a:avLst/>
          </a:prstGeom>
          <a:ln w="15875">
            <a:solidFill>
              <a:srgbClr val="615D5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4681728"/>
            <a:ext cx="11091672" cy="1399032"/>
          </a:xfrm>
          <a:prstGeom prst="roundRect">
            <a:avLst>
              <a:gd name="adj" fmla="val 1111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4773168"/>
            <a:ext cx="10543032"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도구 7개. 모든 금액은 도구(계산 엔진)가 계산하고, AI는 결과만 설명합니다</a:t>
            </a:r>
          </a:p>
        </p:txBody>
      </p:sp>
      <p:sp>
        <p:nvSpPr>
          <p:cNvPr id="28" name="Rounded Rectangle 27"/>
          <p:cNvSpPr/>
          <p:nvPr/>
        </p:nvSpPr>
        <p:spPr>
          <a:xfrm>
            <a:off x="822959"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재무 조회</a:t>
            </a:r>
          </a:p>
          <a:p>
            <a:pPr algn="ctr"/>
            <a:r>
              <a:rPr lang="ko-KR" sz="900" b="0">
                <a:solidFill>
                  <a:srgbClr val="A39E98"/>
                </a:solidFill>
                <a:latin typeface="Paperlogy 4 Regular"/>
                <a:ea typeface="Paperlogy 4 Regular"/>
                <a:cs typeface="Paperlogy 4 Regular"/>
              </a:rPr>
              <a:t>get_my_finances</a:t>
            </a:r>
          </a:p>
        </p:txBody>
      </p:sp>
      <p:sp>
        <p:nvSpPr>
          <p:cNvPr id="29" name="Rounded Rectangle 28"/>
          <p:cNvSpPr/>
          <p:nvPr/>
        </p:nvSpPr>
        <p:spPr>
          <a:xfrm>
            <a:off x="2416759"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저축 계산</a:t>
            </a:r>
          </a:p>
          <a:p>
            <a:pPr algn="ctr"/>
            <a:r>
              <a:rPr lang="ko-KR" sz="900" b="0">
                <a:solidFill>
                  <a:srgbClr val="A39E98"/>
                </a:solidFill>
                <a:latin typeface="Paperlogy 4 Regular"/>
                <a:ea typeface="Paperlogy 4 Regular"/>
                <a:cs typeface="Paperlogy 4 Regular"/>
              </a:rPr>
              <a:t>simulate_savings</a:t>
            </a:r>
          </a:p>
        </p:txBody>
      </p:sp>
      <p:sp>
        <p:nvSpPr>
          <p:cNvPr id="30" name="Rounded Rectangle 29"/>
          <p:cNvSpPr/>
          <p:nvPr/>
        </p:nvSpPr>
        <p:spPr>
          <a:xfrm>
            <a:off x="4010558"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지출 영향</a:t>
            </a:r>
          </a:p>
          <a:p>
            <a:pPr algn="ctr"/>
            <a:r>
              <a:rPr lang="ko-KR" sz="900" b="0">
                <a:solidFill>
                  <a:srgbClr val="A39E98"/>
                </a:solidFill>
                <a:latin typeface="Paperlogy 4 Regular"/>
                <a:ea typeface="Paperlogy 4 Regular"/>
                <a:cs typeface="Paperlogy 4 Regular"/>
              </a:rPr>
              <a:t>check_extra_spending</a:t>
            </a:r>
          </a:p>
        </p:txBody>
      </p:sp>
      <p:sp>
        <p:nvSpPr>
          <p:cNvPr id="31" name="Rounded Rectangle 30"/>
          <p:cNvSpPr/>
          <p:nvPr/>
        </p:nvSpPr>
        <p:spPr>
          <a:xfrm>
            <a:off x="5604357"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정책 검색</a:t>
            </a:r>
          </a:p>
          <a:p>
            <a:pPr algn="ctr"/>
            <a:r>
              <a:rPr lang="ko-KR" sz="900" b="0">
                <a:solidFill>
                  <a:srgbClr val="A39E98"/>
                </a:solidFill>
                <a:latin typeface="Paperlogy 4 Regular"/>
                <a:ea typeface="Paperlogy 4 Regular"/>
                <a:cs typeface="Paperlogy 4 Regular"/>
              </a:rPr>
              <a:t>search_youth_policies</a:t>
            </a:r>
          </a:p>
        </p:txBody>
      </p:sp>
      <p:sp>
        <p:nvSpPr>
          <p:cNvPr id="32" name="Rounded Rectangle 31"/>
          <p:cNvSpPr/>
          <p:nvPr/>
        </p:nvSpPr>
        <p:spPr>
          <a:xfrm>
            <a:off x="7198156"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정책 상세</a:t>
            </a:r>
          </a:p>
          <a:p>
            <a:pPr algn="ctr"/>
            <a:r>
              <a:rPr lang="ko-KR" sz="900" b="0">
                <a:solidFill>
                  <a:srgbClr val="A39E98"/>
                </a:solidFill>
                <a:latin typeface="Paperlogy 4 Regular"/>
                <a:ea typeface="Paperlogy 4 Regular"/>
                <a:cs typeface="Paperlogy 4 Regular"/>
              </a:rPr>
              <a:t>get_policy_detail</a:t>
            </a:r>
          </a:p>
        </p:txBody>
      </p:sp>
      <p:sp>
        <p:nvSpPr>
          <p:cNvPr id="33" name="Rounded Rectangle 32"/>
          <p:cNvSpPr/>
          <p:nvPr/>
        </p:nvSpPr>
        <p:spPr>
          <a:xfrm>
            <a:off x="8791956"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기억 저장</a:t>
            </a:r>
          </a:p>
          <a:p>
            <a:pPr algn="ctr"/>
            <a:r>
              <a:rPr lang="ko-KR" sz="900" b="0">
                <a:solidFill>
                  <a:srgbClr val="A39E98"/>
                </a:solidFill>
                <a:latin typeface="Paperlogy 4 Regular"/>
                <a:ea typeface="Paperlogy 4 Regular"/>
                <a:cs typeface="Paperlogy 4 Regular"/>
              </a:rPr>
              <a:t>save_memory</a:t>
            </a:r>
          </a:p>
        </p:txBody>
      </p:sp>
      <p:sp>
        <p:nvSpPr>
          <p:cNvPr id="34" name="Rounded Rectangle 33"/>
          <p:cNvSpPr/>
          <p:nvPr/>
        </p:nvSpPr>
        <p:spPr>
          <a:xfrm>
            <a:off x="10385755" y="5120640"/>
            <a:ext cx="1463040" cy="749808"/>
          </a:xfrm>
          <a:prstGeom prst="roundRect">
            <a:avLst>
              <a:gd name="adj" fmla="val 12195"/>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600" b="0">
                <a:solidFill>
                  <a:srgbClr val="111111"/>
                </a:solidFill>
                <a:latin typeface="Paperlogy 6 SemiBold"/>
                <a:ea typeface="Paperlogy 6 SemiBold"/>
                <a:cs typeface="Paperlogy 6 SemiBold"/>
              </a:rPr>
              <a:t>목표 설정</a:t>
            </a:r>
          </a:p>
          <a:p>
            <a:pPr algn="ctr"/>
            <a:r>
              <a:rPr lang="ko-KR" sz="900" b="0">
                <a:solidFill>
                  <a:srgbClr val="A39E98"/>
                </a:solidFill>
                <a:latin typeface="Paperlogy 4 Regular"/>
                <a:ea typeface="Paperlogy 4 Regular"/>
                <a:cs typeface="Paperlogy 4 Regular"/>
              </a:rPr>
              <a:t>set_goal</a:t>
            </a:r>
          </a:p>
        </p:txBody>
      </p:sp>
      <p:sp>
        <p:nvSpPr>
          <p:cNvPr id="35" name="TextBox 34"/>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AI 설계</a:t>
            </a:r>
          </a:p>
        </p:txBody>
      </p:sp>
      <p:sp>
        <p:nvSpPr>
          <p:cNvPr id="36" name="TextBox 35"/>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194816"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03  AI 설계</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근거 있는 답: 검색 + 규칙 판정 + 출처</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정책 문서 검색(BM25)과 규칙 기반 자격 판정을 결합한 RAG</a:t>
            </a:r>
          </a:p>
        </p:txBody>
      </p:sp>
      <p:sp>
        <p:nvSpPr>
          <p:cNvPr id="5" name="Rounded Rectangle 4"/>
          <p:cNvSpPr/>
          <p:nvPr/>
        </p:nvSpPr>
        <p:spPr>
          <a:xfrm>
            <a:off x="548640" y="2011680"/>
            <a:ext cx="2560320" cy="1645920"/>
          </a:xfrm>
          <a:prstGeom prst="roundRect">
            <a:avLst>
              <a:gd name="adj" fmla="val 9444"/>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2258568"/>
            <a:ext cx="237744" cy="237744"/>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52144" y="2203704"/>
            <a:ext cx="173736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정책 데이터</a:t>
            </a:r>
          </a:p>
        </p:txBody>
      </p:sp>
      <p:sp>
        <p:nvSpPr>
          <p:cNvPr id="8" name="TextBox 7"/>
          <p:cNvSpPr txBox="1"/>
          <p:nvPr/>
        </p:nvSpPr>
        <p:spPr>
          <a:xfrm>
            <a:off x="804672" y="2697480"/>
            <a:ext cx="2194560" cy="822960"/>
          </a:xfrm>
          <a:prstGeom prst="rect">
            <a:avLst/>
          </a:prstGeom>
          <a:noFill/>
        </p:spPr>
        <p:txBody>
          <a:bodyPr wrap="square" lIns="0" tIns="0" rIns="0" bIns="0" anchor="t">
            <a:noAutofit/>
          </a:bodyPr>
          <a:lstStyle/>
          <a:p>
            <a:pPr algn="l">
              <a:lnSpc>
                <a:spcPct val="125000"/>
              </a:lnSpc>
              <a:spcAft>
                <a:spcPts val="0"/>
              </a:spcAft>
            </a:pPr>
            <a:r>
              <a:rPr lang="ko-KR" sz="1300" b="0">
                <a:solidFill>
                  <a:srgbClr val="31302E"/>
                </a:solidFill>
                <a:latin typeface="Paperlogy 4 Regular"/>
                <a:ea typeface="Paperlogy 4 Regular"/>
                <a:cs typeface="Paperlogy 4 Regular"/>
              </a:rPr>
              <a:t>7개 정책 · 출처 URL · 기준일
(20개 이상으로 확장 중)</a:t>
            </a:r>
          </a:p>
        </p:txBody>
      </p:sp>
      <p:cxnSp>
        <p:nvCxnSpPr>
          <p:cNvPr id="9" name="Connector 8"/>
          <p:cNvCxnSpPr/>
          <p:nvPr/>
        </p:nvCxnSpPr>
        <p:spPr>
          <a:xfrm>
            <a:off x="3145536" y="2834640"/>
            <a:ext cx="210312"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92424" y="2011680"/>
            <a:ext cx="2560320" cy="1645920"/>
          </a:xfrm>
          <a:prstGeom prst="roundRect">
            <a:avLst>
              <a:gd name="adj" fmla="val 9444"/>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48456" y="2258568"/>
            <a:ext cx="237744" cy="237744"/>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95928" y="2203704"/>
            <a:ext cx="173736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BM25 검색</a:t>
            </a:r>
          </a:p>
        </p:txBody>
      </p:sp>
      <p:sp>
        <p:nvSpPr>
          <p:cNvPr id="13" name="TextBox 12"/>
          <p:cNvSpPr txBox="1"/>
          <p:nvPr/>
        </p:nvSpPr>
        <p:spPr>
          <a:xfrm>
            <a:off x="3648456" y="2697480"/>
            <a:ext cx="2194560" cy="822960"/>
          </a:xfrm>
          <a:prstGeom prst="rect">
            <a:avLst/>
          </a:prstGeom>
          <a:noFill/>
        </p:spPr>
        <p:txBody>
          <a:bodyPr wrap="square" lIns="0" tIns="0" rIns="0" bIns="0" anchor="t">
            <a:noAutofit/>
          </a:bodyPr>
          <a:lstStyle/>
          <a:p>
            <a:pPr algn="l">
              <a:lnSpc>
                <a:spcPct val="125000"/>
              </a:lnSpc>
              <a:spcAft>
                <a:spcPts val="0"/>
              </a:spcAft>
            </a:pPr>
            <a:r>
              <a:rPr lang="ko-KR" sz="1300" b="0">
                <a:solidFill>
                  <a:srgbClr val="31302E"/>
                </a:solidFill>
                <a:latin typeface="Paperlogy 4 Regular"/>
                <a:ea typeface="Paperlogy 4 Regular"/>
                <a:cs typeface="Paperlogy 4 Regular"/>
              </a:rPr>
              <a:t>한글 음절 단위 검색
정책명이 나오면 우선</a:t>
            </a:r>
          </a:p>
        </p:txBody>
      </p:sp>
      <p:cxnSp>
        <p:nvCxnSpPr>
          <p:cNvPr id="14" name="Connector 13"/>
          <p:cNvCxnSpPr/>
          <p:nvPr/>
        </p:nvCxnSpPr>
        <p:spPr>
          <a:xfrm>
            <a:off x="5989320" y="2834640"/>
            <a:ext cx="210311"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36207" y="2011680"/>
            <a:ext cx="2560320" cy="1645920"/>
          </a:xfrm>
          <a:prstGeom prst="roundRect">
            <a:avLst>
              <a:gd name="adj" fmla="val 9444"/>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92240" y="2258568"/>
            <a:ext cx="237744" cy="237744"/>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39712" y="2203704"/>
            <a:ext cx="173736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자격 판정</a:t>
            </a:r>
          </a:p>
        </p:txBody>
      </p:sp>
      <p:sp>
        <p:nvSpPr>
          <p:cNvPr id="18" name="TextBox 17"/>
          <p:cNvSpPr txBox="1"/>
          <p:nvPr/>
        </p:nvSpPr>
        <p:spPr>
          <a:xfrm>
            <a:off x="6492240" y="2697480"/>
            <a:ext cx="2194560" cy="822960"/>
          </a:xfrm>
          <a:prstGeom prst="rect">
            <a:avLst/>
          </a:prstGeom>
          <a:noFill/>
        </p:spPr>
        <p:txBody>
          <a:bodyPr wrap="square" lIns="0" tIns="0" rIns="0" bIns="0" anchor="t">
            <a:noAutofit/>
          </a:bodyPr>
          <a:lstStyle/>
          <a:p>
            <a:pPr algn="l">
              <a:lnSpc>
                <a:spcPct val="125000"/>
              </a:lnSpc>
              <a:spcAft>
                <a:spcPts val="0"/>
              </a:spcAft>
            </a:pPr>
            <a:r>
              <a:rPr lang="ko-KR" sz="1300" b="0">
                <a:solidFill>
                  <a:srgbClr val="31302E"/>
                </a:solidFill>
                <a:latin typeface="Paperlogy 4 Regular"/>
                <a:ea typeface="Paperlogy 4 Regular"/>
                <a:cs typeface="Paperlogy 4 Regular"/>
              </a:rPr>
              <a:t>나이·소득·주거·재직·모집 기간
규칙 코드가 판정</a:t>
            </a:r>
          </a:p>
        </p:txBody>
      </p:sp>
      <p:cxnSp>
        <p:nvCxnSpPr>
          <p:cNvPr id="19" name="Connector 18"/>
          <p:cNvCxnSpPr/>
          <p:nvPr/>
        </p:nvCxnSpPr>
        <p:spPr>
          <a:xfrm>
            <a:off x="8833103" y="2834640"/>
            <a:ext cx="210313"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79992" y="2011680"/>
            <a:ext cx="2560320" cy="1645920"/>
          </a:xfrm>
          <a:prstGeom prst="roundRect">
            <a:avLst>
              <a:gd name="adj" fmla="val 9444"/>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336024" y="2258568"/>
            <a:ext cx="237744" cy="237744"/>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83496" y="2203704"/>
            <a:ext cx="173736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근거 있는 답변</a:t>
            </a:r>
          </a:p>
        </p:txBody>
      </p:sp>
      <p:sp>
        <p:nvSpPr>
          <p:cNvPr id="23" name="TextBox 22"/>
          <p:cNvSpPr txBox="1"/>
          <p:nvPr/>
        </p:nvSpPr>
        <p:spPr>
          <a:xfrm>
            <a:off x="9336024" y="2697480"/>
            <a:ext cx="2194560" cy="822960"/>
          </a:xfrm>
          <a:prstGeom prst="rect">
            <a:avLst/>
          </a:prstGeom>
          <a:noFill/>
        </p:spPr>
        <p:txBody>
          <a:bodyPr wrap="square" lIns="0" tIns="0" rIns="0" bIns="0" anchor="t">
            <a:noAutofit/>
          </a:bodyPr>
          <a:lstStyle/>
          <a:p>
            <a:pPr algn="l">
              <a:lnSpc>
                <a:spcPct val="125000"/>
              </a:lnSpc>
              <a:spcAft>
                <a:spcPts val="0"/>
              </a:spcAft>
            </a:pPr>
            <a:r>
              <a:rPr lang="ko-KR" sz="1300" b="0">
                <a:solidFill>
                  <a:srgbClr val="31302E"/>
                </a:solidFill>
                <a:latin typeface="Paperlogy 4 Regular"/>
                <a:ea typeface="Paperlogy 4 Regular"/>
                <a:cs typeface="Paperlogy 4 Regular"/>
              </a:rPr>
              <a:t>근거 문장 + 출처 + 기준일
모르면 공식 기관 확인 안내</a:t>
            </a:r>
          </a:p>
        </p:txBody>
      </p:sp>
      <p:sp>
        <p:nvSpPr>
          <p:cNvPr id="24" name="Rounded Rectangle 23"/>
          <p:cNvSpPr/>
          <p:nvPr/>
        </p:nvSpPr>
        <p:spPr>
          <a:xfrm>
            <a:off x="548640" y="3886200"/>
            <a:ext cx="7223760" cy="2194560"/>
          </a:xfrm>
          <a:prstGeom prst="roundRect">
            <a:avLst>
              <a:gd name="adj" fmla="val 7083"/>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096512"/>
            <a:ext cx="274320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청년미래적금</a:t>
            </a:r>
          </a:p>
        </p:txBody>
      </p:sp>
      <p:sp>
        <p:nvSpPr>
          <p:cNvPr id="26" name="Rounded Rectangle 25"/>
          <p:cNvSpPr/>
          <p:nvPr/>
        </p:nvSpPr>
        <p:spPr>
          <a:xfrm>
            <a:off x="2560320" y="4114800"/>
            <a:ext cx="1341120" cy="274320"/>
          </a:xfrm>
          <a:prstGeom prst="roundRect">
            <a:avLst>
              <a:gd name="adj" fmla="val 50000"/>
            </a:avLst>
          </a:prstGeom>
          <a:solidFill>
            <a:srgbClr val="EAF3FD"/>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조건 확인 필요</a:t>
            </a:r>
          </a:p>
        </p:txBody>
      </p:sp>
      <p:sp>
        <p:nvSpPr>
          <p:cNvPr id="27" name="TextBox 26"/>
          <p:cNvSpPr txBox="1"/>
          <p:nvPr/>
        </p:nvSpPr>
        <p:spPr>
          <a:xfrm>
            <a:off x="868680" y="4544568"/>
            <a:ext cx="6583680"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월 46만 원 납입 시 3년간 정부기여금 약 198만 7,200원 (우대형 가정)</a:t>
            </a:r>
          </a:p>
        </p:txBody>
      </p:sp>
      <p:sp>
        <p:nvSpPr>
          <p:cNvPr id="28" name="Oval 27"/>
          <p:cNvSpPr/>
          <p:nvPr/>
        </p:nvSpPr>
        <p:spPr>
          <a:xfrm>
            <a:off x="896112" y="5047488"/>
            <a:ext cx="128016" cy="128016"/>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43000" y="4983480"/>
            <a:ext cx="109728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나이</a:t>
            </a:r>
          </a:p>
        </p:txBody>
      </p:sp>
      <p:sp>
        <p:nvSpPr>
          <p:cNvPr id="30" name="TextBox 29"/>
          <p:cNvSpPr txBox="1"/>
          <p:nvPr/>
        </p:nvSpPr>
        <p:spPr>
          <a:xfrm>
            <a:off x="2194560" y="4983480"/>
            <a:ext cx="5303520" cy="27432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만 19~34세 대상 (현재 만 27세)</a:t>
            </a:r>
          </a:p>
        </p:txBody>
      </p:sp>
      <p:sp>
        <p:nvSpPr>
          <p:cNvPr id="31" name="Oval 30"/>
          <p:cNvSpPr/>
          <p:nvPr/>
        </p:nvSpPr>
        <p:spPr>
          <a:xfrm>
            <a:off x="896112" y="5349240"/>
            <a:ext cx="128016" cy="128016"/>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43000" y="5285232"/>
            <a:ext cx="109728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소득</a:t>
            </a:r>
          </a:p>
        </p:txBody>
      </p:sp>
      <p:sp>
        <p:nvSpPr>
          <p:cNvPr id="33" name="TextBox 32"/>
          <p:cNvSpPr txBox="1"/>
          <p:nvPr/>
        </p:nvSpPr>
        <p:spPr>
          <a:xfrm>
            <a:off x="2194560" y="5285232"/>
            <a:ext cx="5303520" cy="27432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총급여 7,500만 원 이하 (입력 연봉 3,400만 원)</a:t>
            </a:r>
          </a:p>
        </p:txBody>
      </p:sp>
      <p:sp>
        <p:nvSpPr>
          <p:cNvPr id="34" name="Oval 33"/>
          <p:cNvSpPr/>
          <p:nvPr/>
        </p:nvSpPr>
        <p:spPr>
          <a:xfrm>
            <a:off x="896112" y="5650992"/>
            <a:ext cx="128016" cy="128016"/>
          </a:xfrm>
          <a:prstGeom prst="ellipse">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43000" y="5586984"/>
            <a:ext cx="109728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추가 확인</a:t>
            </a:r>
          </a:p>
        </p:txBody>
      </p:sp>
      <p:sp>
        <p:nvSpPr>
          <p:cNvPr id="36" name="TextBox 35"/>
          <p:cNvSpPr txBox="1"/>
          <p:nvPr/>
        </p:nvSpPr>
        <p:spPr>
          <a:xfrm>
            <a:off x="2194560" y="5586984"/>
            <a:ext cx="5303520" cy="27432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가구 기준 중위소득 200% 이하 (우대형은 150% 이하)</a:t>
            </a:r>
          </a:p>
        </p:txBody>
      </p:sp>
      <p:sp>
        <p:nvSpPr>
          <p:cNvPr id="37" name="TextBox 36"/>
          <p:cNvSpPr txBox="1"/>
          <p:nvPr/>
        </p:nvSpPr>
        <p:spPr>
          <a:xfrm>
            <a:off x="868680" y="5852160"/>
            <a:ext cx="6583680" cy="201168"/>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출처: KB Think, 토스뱅크 안내 · 기준일 2026-09-30 · 공식 공고 재검수 중</a:t>
            </a:r>
          </a:p>
        </p:txBody>
      </p:sp>
      <p:sp>
        <p:nvSpPr>
          <p:cNvPr id="38" name="Rounded Rectangle 37"/>
          <p:cNvSpPr/>
          <p:nvPr/>
        </p:nvSpPr>
        <p:spPr>
          <a:xfrm>
            <a:off x="8001000" y="3886200"/>
            <a:ext cx="3639312" cy="2194560"/>
          </a:xfrm>
          <a:prstGeom prst="roundRect">
            <a:avLst>
              <a:gd name="adj" fmla="val 7083"/>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4069080"/>
            <a:ext cx="310896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판정 결과 4단계</a:t>
            </a:r>
          </a:p>
        </p:txBody>
      </p:sp>
      <p:sp>
        <p:nvSpPr>
          <p:cNvPr id="40" name="Oval 39"/>
          <p:cNvSpPr/>
          <p:nvPr/>
        </p:nvSpPr>
        <p:spPr>
          <a:xfrm>
            <a:off x="8293608" y="4617720"/>
            <a:ext cx="146304" cy="146304"/>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49640" y="4553712"/>
            <a:ext cx="137160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받을 수 있어요</a:t>
            </a:r>
          </a:p>
        </p:txBody>
      </p:sp>
      <p:sp>
        <p:nvSpPr>
          <p:cNvPr id="42" name="TextBox 41"/>
          <p:cNvSpPr txBox="1"/>
          <p:nvPr/>
        </p:nvSpPr>
        <p:spPr>
          <a:xfrm>
            <a:off x="9921240" y="4553712"/>
            <a:ext cx="15087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모든 조건 충족</a:t>
            </a:r>
          </a:p>
        </p:txBody>
      </p:sp>
      <p:sp>
        <p:nvSpPr>
          <p:cNvPr id="43" name="Oval 42"/>
          <p:cNvSpPr/>
          <p:nvPr/>
        </p:nvSpPr>
        <p:spPr>
          <a:xfrm>
            <a:off x="8293608" y="4983480"/>
            <a:ext cx="146304" cy="146304"/>
          </a:xfrm>
          <a:prstGeom prst="ellipse">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549640" y="4919472"/>
            <a:ext cx="137160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조건 확인 필요</a:t>
            </a:r>
          </a:p>
        </p:txBody>
      </p:sp>
      <p:sp>
        <p:nvSpPr>
          <p:cNvPr id="45" name="TextBox 44"/>
          <p:cNvSpPr txBox="1"/>
          <p:nvPr/>
        </p:nvSpPr>
        <p:spPr>
          <a:xfrm>
            <a:off x="9921240" y="4919472"/>
            <a:ext cx="15087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가구소득 등 확인</a:t>
            </a:r>
          </a:p>
        </p:txBody>
      </p:sp>
      <p:sp>
        <p:nvSpPr>
          <p:cNvPr id="46" name="Oval 45"/>
          <p:cNvSpPr/>
          <p:nvPr/>
        </p:nvSpPr>
        <p:spPr>
          <a:xfrm>
            <a:off x="8293608" y="5349240"/>
            <a:ext cx="146304" cy="146304"/>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49640" y="5285232"/>
            <a:ext cx="137160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지금은 신청 불가</a:t>
            </a:r>
          </a:p>
        </p:txBody>
      </p:sp>
      <p:sp>
        <p:nvSpPr>
          <p:cNvPr id="48" name="TextBox 47"/>
          <p:cNvSpPr txBox="1"/>
          <p:nvPr/>
        </p:nvSpPr>
        <p:spPr>
          <a:xfrm>
            <a:off x="9921240" y="5285232"/>
            <a:ext cx="15087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모집·가입 종료</a:t>
            </a:r>
          </a:p>
        </p:txBody>
      </p:sp>
      <p:sp>
        <p:nvSpPr>
          <p:cNvPr id="49" name="Oval 48"/>
          <p:cNvSpPr/>
          <p:nvPr/>
        </p:nvSpPr>
        <p:spPr>
          <a:xfrm>
            <a:off x="8293608" y="5715000"/>
            <a:ext cx="146304" cy="14630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549640" y="5650992"/>
            <a:ext cx="1371600" cy="27432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해당 없음</a:t>
            </a:r>
          </a:p>
        </p:txBody>
      </p:sp>
      <p:sp>
        <p:nvSpPr>
          <p:cNvPr id="51" name="TextBox 50"/>
          <p:cNvSpPr txBox="1"/>
          <p:nvPr/>
        </p:nvSpPr>
        <p:spPr>
          <a:xfrm>
            <a:off x="9921240" y="5650992"/>
            <a:ext cx="15087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조건 불충족</a:t>
            </a:r>
          </a:p>
        </p:txBody>
      </p:sp>
      <p:sp>
        <p:nvSpPr>
          <p:cNvPr id="52" name="TextBox 51"/>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AI 설계</a:t>
            </a:r>
          </a:p>
        </p:txBody>
      </p:sp>
      <p:sp>
        <p:nvSpPr>
          <p:cNvPr id="53" name="TextBox 52"/>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194816"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03  AI 설계</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안전장치와 품질 측정</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가드레일 4겹과 자동 평가로 AI 품질을 숫자로 관리합니다 (평가셋 40·30문항으로 확장 중)</a:t>
            </a:r>
          </a:p>
        </p:txBody>
      </p:sp>
      <p:sp>
        <p:nvSpPr>
          <p:cNvPr id="5" name="Rounded Rectangle 4"/>
          <p:cNvSpPr/>
          <p:nvPr/>
        </p:nvSpPr>
        <p:spPr>
          <a:xfrm>
            <a:off x="548640" y="2011680"/>
            <a:ext cx="5486400" cy="4069080"/>
          </a:xfrm>
          <a:prstGeom prst="roundRect">
            <a:avLst>
              <a:gd name="adj" fmla="val 382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40280"/>
            <a:ext cx="484632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가드레일 4겹</a:t>
            </a:r>
          </a:p>
        </p:txBody>
      </p:sp>
      <p:sp>
        <p:nvSpPr>
          <p:cNvPr id="7" name="Oval 6"/>
          <p:cNvSpPr/>
          <p:nvPr/>
        </p:nvSpPr>
        <p:spPr>
          <a:xfrm>
            <a:off x="868680" y="2788920"/>
            <a:ext cx="457200" cy="45720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1</a:t>
            </a:r>
          </a:p>
        </p:txBody>
      </p:sp>
      <p:sp>
        <p:nvSpPr>
          <p:cNvPr id="8" name="TextBox 7"/>
          <p:cNvSpPr txBox="1"/>
          <p:nvPr/>
        </p:nvSpPr>
        <p:spPr>
          <a:xfrm>
            <a:off x="1508760" y="2743200"/>
            <a:ext cx="4251960" cy="320040"/>
          </a:xfrm>
          <a:prstGeom prst="rect">
            <a:avLst/>
          </a:prstGeom>
          <a:noFill/>
        </p:spPr>
        <p:txBody>
          <a:bodyPr wrap="square" lIns="0" tIns="0" rIns="0" bIns="0" anchor="t">
            <a:noAutofit/>
          </a:bodyPr>
          <a:lstStyle/>
          <a:p>
            <a:pPr algn="l">
              <a:spcAft>
                <a:spcPts val="0"/>
              </a:spcAft>
            </a:pPr>
            <a:r>
              <a:rPr lang="ko-KR" sz="1200" b="0">
                <a:solidFill>
                  <a:srgbClr val="A39E98"/>
                </a:solidFill>
                <a:latin typeface="Paperlogy 6 SemiBold"/>
                <a:ea typeface="Paperlogy 6 SemiBold"/>
                <a:cs typeface="Paperlogy 6 SemiBold"/>
              </a:rPr>
              <a:t>입력  </a:t>
            </a:r>
            <a:r>
              <a:rPr lang="ko-KR" sz="1600" b="0">
                <a:solidFill>
                  <a:srgbClr val="111111"/>
                </a:solidFill>
                <a:latin typeface="Paperlogy 6 SemiBold"/>
                <a:ea typeface="Paperlogy 6 SemiBold"/>
                <a:cs typeface="Paperlogy 6 SemiBold"/>
              </a:rPr>
              <a:t>민감정보 마스킹</a:t>
            </a:r>
          </a:p>
        </p:txBody>
      </p:sp>
      <p:sp>
        <p:nvSpPr>
          <p:cNvPr id="9" name="TextBox 8"/>
          <p:cNvSpPr txBox="1"/>
          <p:nvPr/>
        </p:nvSpPr>
        <p:spPr>
          <a:xfrm>
            <a:off x="1508760" y="3072384"/>
            <a:ext cx="4251960" cy="32004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주민·계좌·카드·전화번호를 AI 전송 전에 가림 (조사가 붙어도)</a:t>
            </a:r>
          </a:p>
        </p:txBody>
      </p:sp>
      <p:sp>
        <p:nvSpPr>
          <p:cNvPr id="10" name="Oval 9"/>
          <p:cNvSpPr/>
          <p:nvPr/>
        </p:nvSpPr>
        <p:spPr>
          <a:xfrm>
            <a:off x="868680" y="3520439"/>
            <a:ext cx="457200" cy="45720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111111"/>
                </a:solidFill>
                <a:latin typeface="Paperlogy 6 SemiBold"/>
                <a:ea typeface="Paperlogy 6 SemiBold"/>
                <a:cs typeface="Paperlogy 6 SemiBold"/>
              </a:rPr>
              <a:t>2</a:t>
            </a:r>
          </a:p>
        </p:txBody>
      </p:sp>
      <p:sp>
        <p:nvSpPr>
          <p:cNvPr id="11" name="TextBox 10"/>
          <p:cNvSpPr txBox="1"/>
          <p:nvPr/>
        </p:nvSpPr>
        <p:spPr>
          <a:xfrm>
            <a:off x="1508760" y="3474720"/>
            <a:ext cx="4251960" cy="320040"/>
          </a:xfrm>
          <a:prstGeom prst="rect">
            <a:avLst/>
          </a:prstGeom>
          <a:noFill/>
        </p:spPr>
        <p:txBody>
          <a:bodyPr wrap="square" lIns="0" tIns="0" rIns="0" bIns="0" anchor="t">
            <a:noAutofit/>
          </a:bodyPr>
          <a:lstStyle/>
          <a:p>
            <a:pPr algn="l">
              <a:spcAft>
                <a:spcPts val="0"/>
              </a:spcAft>
            </a:pPr>
            <a:r>
              <a:rPr lang="ko-KR" sz="1200" b="0">
                <a:solidFill>
                  <a:srgbClr val="A39E98"/>
                </a:solidFill>
                <a:latin typeface="Paperlogy 6 SemiBold"/>
                <a:ea typeface="Paperlogy 6 SemiBold"/>
                <a:cs typeface="Paperlogy 6 SemiBold"/>
              </a:rPr>
              <a:t>입력  </a:t>
            </a:r>
            <a:r>
              <a:rPr lang="ko-KR" sz="1600" b="0">
                <a:solidFill>
                  <a:srgbClr val="111111"/>
                </a:solidFill>
                <a:latin typeface="Paperlogy 6 SemiBold"/>
                <a:ea typeface="Paperlogy 6 SemiBold"/>
                <a:cs typeface="Paperlogy 6 SemiBold"/>
              </a:rPr>
              <a:t>투자권유 요청 탐지</a:t>
            </a:r>
          </a:p>
        </p:txBody>
      </p:sp>
      <p:sp>
        <p:nvSpPr>
          <p:cNvPr id="12" name="TextBox 11"/>
          <p:cNvSpPr txBox="1"/>
          <p:nvPr/>
        </p:nvSpPr>
        <p:spPr>
          <a:xfrm>
            <a:off x="1508760" y="3803904"/>
            <a:ext cx="4251960" cy="32004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"삼성전자 사도 돼?" → 투자 원칙 안내로 대체</a:t>
            </a:r>
          </a:p>
        </p:txBody>
      </p:sp>
      <p:sp>
        <p:nvSpPr>
          <p:cNvPr id="13" name="Oval 12"/>
          <p:cNvSpPr/>
          <p:nvPr/>
        </p:nvSpPr>
        <p:spPr>
          <a:xfrm>
            <a:off x="868680" y="4251959"/>
            <a:ext cx="457200" cy="45720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3</a:t>
            </a:r>
          </a:p>
        </p:txBody>
      </p:sp>
      <p:sp>
        <p:nvSpPr>
          <p:cNvPr id="14" name="TextBox 13"/>
          <p:cNvSpPr txBox="1"/>
          <p:nvPr/>
        </p:nvSpPr>
        <p:spPr>
          <a:xfrm>
            <a:off x="1508760" y="4206240"/>
            <a:ext cx="4251960" cy="320040"/>
          </a:xfrm>
          <a:prstGeom prst="rect">
            <a:avLst/>
          </a:prstGeom>
          <a:noFill/>
        </p:spPr>
        <p:txBody>
          <a:bodyPr wrap="square" lIns="0" tIns="0" rIns="0" bIns="0" anchor="t">
            <a:noAutofit/>
          </a:bodyPr>
          <a:lstStyle/>
          <a:p>
            <a:pPr algn="l">
              <a:spcAft>
                <a:spcPts val="0"/>
              </a:spcAft>
            </a:pPr>
            <a:r>
              <a:rPr lang="ko-KR" sz="1200" b="0">
                <a:solidFill>
                  <a:srgbClr val="A39E98"/>
                </a:solidFill>
                <a:latin typeface="Paperlogy 6 SemiBold"/>
                <a:ea typeface="Paperlogy 6 SemiBold"/>
                <a:cs typeface="Paperlogy 6 SemiBold"/>
              </a:rPr>
              <a:t>출력  </a:t>
            </a:r>
            <a:r>
              <a:rPr lang="ko-KR" sz="1600" b="0">
                <a:solidFill>
                  <a:srgbClr val="111111"/>
                </a:solidFill>
                <a:latin typeface="Paperlogy 6 SemiBold"/>
                <a:ea typeface="Paperlogy 6 SemiBold"/>
                <a:cs typeface="Paperlogy 6 SemiBold"/>
              </a:rPr>
              <a:t>권유 문구 차단</a:t>
            </a:r>
          </a:p>
        </p:txBody>
      </p:sp>
      <p:sp>
        <p:nvSpPr>
          <p:cNvPr id="15" name="TextBox 14"/>
          <p:cNvSpPr txBox="1"/>
          <p:nvPr/>
        </p:nvSpPr>
        <p:spPr>
          <a:xfrm>
            <a:off x="1508760" y="4535424"/>
            <a:ext cx="4251960" cy="32004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"매수하세요" 등이 섞이면 안전 안내문으로 교체</a:t>
            </a:r>
          </a:p>
        </p:txBody>
      </p:sp>
      <p:sp>
        <p:nvSpPr>
          <p:cNvPr id="16" name="Oval 15"/>
          <p:cNvSpPr/>
          <p:nvPr/>
        </p:nvSpPr>
        <p:spPr>
          <a:xfrm>
            <a:off x="868680" y="4983480"/>
            <a:ext cx="457200" cy="45720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r>
              <a:rPr lang="ko-KR" sz="1200" b="0">
                <a:solidFill>
                  <a:srgbClr val="FFFFFF"/>
                </a:solidFill>
                <a:latin typeface="Paperlogy 6 SemiBold"/>
                <a:ea typeface="Paperlogy 6 SemiBold"/>
                <a:cs typeface="Paperlogy 6 SemiBold"/>
              </a:rPr>
              <a:t>4</a:t>
            </a:r>
          </a:p>
        </p:txBody>
      </p:sp>
      <p:sp>
        <p:nvSpPr>
          <p:cNvPr id="17" name="TextBox 16"/>
          <p:cNvSpPr txBox="1"/>
          <p:nvPr/>
        </p:nvSpPr>
        <p:spPr>
          <a:xfrm>
            <a:off x="1508760" y="4937760"/>
            <a:ext cx="4251960" cy="320040"/>
          </a:xfrm>
          <a:prstGeom prst="rect">
            <a:avLst/>
          </a:prstGeom>
          <a:noFill/>
        </p:spPr>
        <p:txBody>
          <a:bodyPr wrap="square" lIns="0" tIns="0" rIns="0" bIns="0" anchor="t">
            <a:noAutofit/>
          </a:bodyPr>
          <a:lstStyle/>
          <a:p>
            <a:pPr algn="l">
              <a:spcAft>
                <a:spcPts val="0"/>
              </a:spcAft>
            </a:pPr>
            <a:r>
              <a:rPr lang="ko-KR" sz="1200" b="0">
                <a:solidFill>
                  <a:srgbClr val="A39E98"/>
                </a:solidFill>
                <a:latin typeface="Paperlogy 6 SemiBold"/>
                <a:ea typeface="Paperlogy 6 SemiBold"/>
                <a:cs typeface="Paperlogy 6 SemiBold"/>
              </a:rPr>
              <a:t>출력  </a:t>
            </a:r>
            <a:r>
              <a:rPr lang="ko-KR" sz="1600" b="0">
                <a:solidFill>
                  <a:srgbClr val="111111"/>
                </a:solidFill>
                <a:latin typeface="Paperlogy 6 SemiBold"/>
                <a:ea typeface="Paperlogy 6 SemiBold"/>
                <a:cs typeface="Paperlogy 6 SemiBold"/>
              </a:rPr>
              <a:t>수치 검증</a:t>
            </a:r>
          </a:p>
        </p:txBody>
      </p:sp>
      <p:sp>
        <p:nvSpPr>
          <p:cNvPr id="18" name="TextBox 17"/>
          <p:cNvSpPr txBox="1"/>
          <p:nvPr/>
        </p:nvSpPr>
        <p:spPr>
          <a:xfrm>
            <a:off x="1508760" y="5266944"/>
            <a:ext cx="4251960" cy="32004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도구 결과에 없는 금액은 검토 대상으로 표시</a:t>
            </a:r>
          </a:p>
        </p:txBody>
      </p:sp>
      <p:sp>
        <p:nvSpPr>
          <p:cNvPr id="19" name="TextBox 18"/>
          <p:cNvSpPr txBox="1"/>
          <p:nvPr/>
        </p:nvSpPr>
        <p:spPr>
          <a:xfrm>
            <a:off x="868680" y="5715000"/>
            <a:ext cx="4846320" cy="256032"/>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모든 답변에 'AI 답변' 표시  ·  사용자당 하루 50회 호출 상한</a:t>
            </a:r>
          </a:p>
        </p:txBody>
      </p:sp>
      <p:sp>
        <p:nvSpPr>
          <p:cNvPr id="20" name="Rounded Rectangle 19"/>
          <p:cNvSpPr/>
          <p:nvPr/>
        </p:nvSpPr>
        <p:spPr>
          <a:xfrm>
            <a:off x="6263640" y="2011680"/>
            <a:ext cx="2596896" cy="1938528"/>
          </a:xfrm>
          <a:prstGeom prst="roundRect">
            <a:avLst>
              <a:gd name="adj" fmla="val 8018"/>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59" y="2240280"/>
            <a:ext cx="2139696" cy="685800"/>
          </a:xfrm>
          <a:prstGeom prst="rect">
            <a:avLst/>
          </a:prstGeom>
          <a:noFill/>
        </p:spPr>
        <p:txBody>
          <a:bodyPr wrap="square" lIns="0" tIns="0" rIns="0" bIns="0" anchor="t">
            <a:noAutofit/>
          </a:bodyPr>
          <a:lstStyle/>
          <a:p>
            <a:pPr algn="l">
              <a:spcAft>
                <a:spcPts val="0"/>
              </a:spcAft>
            </a:pPr>
            <a:r>
              <a:rPr lang="ko-KR" sz="4000" b="0" spc="-60">
                <a:solidFill>
                  <a:srgbClr val="111111"/>
                </a:solidFill>
                <a:latin typeface="Paperlogy 8 ExtraBold"/>
                <a:ea typeface="Paperlogy 8 ExtraBold"/>
                <a:cs typeface="Paperlogy 8 ExtraBold"/>
              </a:rPr>
              <a:t>79개</a:t>
            </a:r>
          </a:p>
        </p:txBody>
      </p:sp>
      <p:sp>
        <p:nvSpPr>
          <p:cNvPr id="22" name="TextBox 21"/>
          <p:cNvSpPr txBox="1"/>
          <p:nvPr/>
        </p:nvSpPr>
        <p:spPr>
          <a:xfrm>
            <a:off x="6537959" y="2999232"/>
            <a:ext cx="2139696"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자동 테스트 통과</a:t>
            </a:r>
          </a:p>
        </p:txBody>
      </p:sp>
      <p:sp>
        <p:nvSpPr>
          <p:cNvPr id="23" name="TextBox 22"/>
          <p:cNvSpPr txBox="1"/>
          <p:nvPr/>
        </p:nvSpPr>
        <p:spPr>
          <a:xfrm>
            <a:off x="6537959" y="3337560"/>
            <a:ext cx="2139696" cy="502920"/>
          </a:xfrm>
          <a:prstGeom prst="rect">
            <a:avLst/>
          </a:prstGeom>
          <a:noFill/>
        </p:spPr>
        <p:txBody>
          <a:bodyPr wrap="square" lIns="0" tIns="0" rIns="0" bIns="0" anchor="t">
            <a:noAutofit/>
          </a:bodyPr>
          <a:lstStyle/>
          <a:p>
            <a:pPr algn="l">
              <a:lnSpc>
                <a:spcPct val="115000"/>
              </a:lnSpc>
              <a:spcAft>
                <a:spcPts val="0"/>
              </a:spcAft>
            </a:pPr>
            <a:r>
              <a:rPr lang="ko-KR" sz="1150" b="0">
                <a:solidFill>
                  <a:srgbClr val="615D59"/>
                </a:solidFill>
                <a:latin typeface="Paperlogy 4 Regular"/>
                <a:ea typeface="Paperlogy 4 Regular"/>
                <a:cs typeface="Paperlogy 4 Regular"/>
              </a:rPr>
              <a:t>계산 엔진·자격 판정·가드레일·전체 흐름</a:t>
            </a:r>
          </a:p>
        </p:txBody>
      </p:sp>
      <p:sp>
        <p:nvSpPr>
          <p:cNvPr id="24" name="Rounded Rectangle 23"/>
          <p:cNvSpPr/>
          <p:nvPr/>
        </p:nvSpPr>
        <p:spPr>
          <a:xfrm>
            <a:off x="9043416" y="2011680"/>
            <a:ext cx="2596896" cy="1938528"/>
          </a:xfrm>
          <a:prstGeom prst="roundRect">
            <a:avLst>
              <a:gd name="adj" fmla="val 8018"/>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17736" y="2240280"/>
            <a:ext cx="2139696" cy="685800"/>
          </a:xfrm>
          <a:prstGeom prst="rect">
            <a:avLst/>
          </a:prstGeom>
          <a:noFill/>
        </p:spPr>
        <p:txBody>
          <a:bodyPr wrap="square" lIns="0" tIns="0" rIns="0" bIns="0" anchor="t">
            <a:noAutofit/>
          </a:bodyPr>
          <a:lstStyle/>
          <a:p>
            <a:pPr algn="l">
              <a:spcAft>
                <a:spcPts val="0"/>
              </a:spcAft>
            </a:pPr>
            <a:r>
              <a:rPr lang="ko-KR" sz="4000" b="0" spc="-60">
                <a:solidFill>
                  <a:srgbClr val="111111"/>
                </a:solidFill>
                <a:latin typeface="Paperlogy 8 ExtraBold"/>
                <a:ea typeface="Paperlogy 8 ExtraBold"/>
                <a:cs typeface="Paperlogy 8 ExtraBold"/>
              </a:rPr>
              <a:t>100%</a:t>
            </a:r>
          </a:p>
        </p:txBody>
      </p:sp>
      <p:sp>
        <p:nvSpPr>
          <p:cNvPr id="26" name="TextBox 25"/>
          <p:cNvSpPr txBox="1"/>
          <p:nvPr/>
        </p:nvSpPr>
        <p:spPr>
          <a:xfrm>
            <a:off x="9317736" y="2999232"/>
            <a:ext cx="2139696"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정책 검색 정답률</a:t>
            </a:r>
          </a:p>
        </p:txBody>
      </p:sp>
      <p:sp>
        <p:nvSpPr>
          <p:cNvPr id="27" name="TextBox 26"/>
          <p:cNvSpPr txBox="1"/>
          <p:nvPr/>
        </p:nvSpPr>
        <p:spPr>
          <a:xfrm>
            <a:off x="9317736" y="3337560"/>
            <a:ext cx="2139696" cy="502920"/>
          </a:xfrm>
          <a:prstGeom prst="rect">
            <a:avLst/>
          </a:prstGeom>
          <a:noFill/>
        </p:spPr>
        <p:txBody>
          <a:bodyPr wrap="square" lIns="0" tIns="0" rIns="0" bIns="0" anchor="t">
            <a:noAutofit/>
          </a:bodyPr>
          <a:lstStyle/>
          <a:p>
            <a:pPr algn="l">
              <a:lnSpc>
                <a:spcPct val="115000"/>
              </a:lnSpc>
              <a:spcAft>
                <a:spcPts val="0"/>
              </a:spcAft>
            </a:pPr>
            <a:r>
              <a:rPr lang="ko-KR" sz="1150" b="0">
                <a:solidFill>
                  <a:srgbClr val="615D59"/>
                </a:solidFill>
                <a:latin typeface="Paperlogy 4 Regular"/>
                <a:ea typeface="Paperlogy 4 Regular"/>
                <a:cs typeface="Paperlogy 4 Regular"/>
              </a:rPr>
              <a:t>hit@1, 골든셋 12문항</a:t>
            </a:r>
          </a:p>
        </p:txBody>
      </p:sp>
      <p:sp>
        <p:nvSpPr>
          <p:cNvPr id="28" name="Rounded Rectangle 27"/>
          <p:cNvSpPr/>
          <p:nvPr/>
        </p:nvSpPr>
        <p:spPr>
          <a:xfrm>
            <a:off x="6263640" y="4142232"/>
            <a:ext cx="2596896" cy="1938528"/>
          </a:xfrm>
          <a:prstGeom prst="roundRect">
            <a:avLst>
              <a:gd name="adj" fmla="val 8018"/>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37959" y="4370832"/>
            <a:ext cx="2139696" cy="685800"/>
          </a:xfrm>
          <a:prstGeom prst="rect">
            <a:avLst/>
          </a:prstGeom>
          <a:noFill/>
        </p:spPr>
        <p:txBody>
          <a:bodyPr wrap="square" lIns="0" tIns="0" rIns="0" bIns="0" anchor="t">
            <a:noAutofit/>
          </a:bodyPr>
          <a:lstStyle/>
          <a:p>
            <a:pPr algn="l">
              <a:spcAft>
                <a:spcPts val="0"/>
              </a:spcAft>
            </a:pPr>
            <a:r>
              <a:rPr lang="ko-KR" sz="4000" b="0" spc="-60">
                <a:solidFill>
                  <a:srgbClr val="111111"/>
                </a:solidFill>
                <a:latin typeface="Paperlogy 8 ExtraBold"/>
                <a:ea typeface="Paperlogy 8 ExtraBold"/>
                <a:cs typeface="Paperlogy 8 ExtraBold"/>
              </a:rPr>
              <a:t>100%</a:t>
            </a:r>
          </a:p>
        </p:txBody>
      </p:sp>
      <p:sp>
        <p:nvSpPr>
          <p:cNvPr id="30" name="TextBox 29"/>
          <p:cNvSpPr txBox="1"/>
          <p:nvPr/>
        </p:nvSpPr>
        <p:spPr>
          <a:xfrm>
            <a:off x="6537959" y="5129784"/>
            <a:ext cx="2139696"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투자권유 요청 탐지</a:t>
            </a:r>
          </a:p>
        </p:txBody>
      </p:sp>
      <p:sp>
        <p:nvSpPr>
          <p:cNvPr id="31" name="TextBox 30"/>
          <p:cNvSpPr txBox="1"/>
          <p:nvPr/>
        </p:nvSpPr>
        <p:spPr>
          <a:xfrm>
            <a:off x="6537959" y="5468112"/>
            <a:ext cx="2139696" cy="502920"/>
          </a:xfrm>
          <a:prstGeom prst="rect">
            <a:avLst/>
          </a:prstGeom>
          <a:noFill/>
        </p:spPr>
        <p:txBody>
          <a:bodyPr wrap="square" lIns="0" tIns="0" rIns="0" bIns="0" anchor="t">
            <a:noAutofit/>
          </a:bodyPr>
          <a:lstStyle/>
          <a:p>
            <a:pPr algn="l">
              <a:lnSpc>
                <a:spcPct val="115000"/>
              </a:lnSpc>
              <a:spcAft>
                <a:spcPts val="0"/>
              </a:spcAft>
            </a:pPr>
            <a:r>
              <a:rPr lang="ko-KR" sz="1150" b="0">
                <a:solidFill>
                  <a:srgbClr val="615D59"/>
                </a:solidFill>
                <a:latin typeface="Paperlogy 4 Regular"/>
                <a:ea typeface="Paperlogy 4 Regular"/>
                <a:cs typeface="Paperlogy 4 Regular"/>
              </a:rPr>
              <a:t>레드팀 10문항</a:t>
            </a:r>
          </a:p>
        </p:txBody>
      </p:sp>
      <p:sp>
        <p:nvSpPr>
          <p:cNvPr id="32" name="Rounded Rectangle 31"/>
          <p:cNvSpPr/>
          <p:nvPr/>
        </p:nvSpPr>
        <p:spPr>
          <a:xfrm>
            <a:off x="9043416" y="4142232"/>
            <a:ext cx="2596896" cy="1938528"/>
          </a:xfrm>
          <a:prstGeom prst="roundRect">
            <a:avLst>
              <a:gd name="adj" fmla="val 8018"/>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17736" y="4370832"/>
            <a:ext cx="2139696" cy="685800"/>
          </a:xfrm>
          <a:prstGeom prst="rect">
            <a:avLst/>
          </a:prstGeom>
          <a:noFill/>
        </p:spPr>
        <p:txBody>
          <a:bodyPr wrap="square" lIns="0" tIns="0" rIns="0" bIns="0" anchor="t">
            <a:noAutofit/>
          </a:bodyPr>
          <a:lstStyle/>
          <a:p>
            <a:pPr algn="l">
              <a:spcAft>
                <a:spcPts val="0"/>
              </a:spcAft>
            </a:pPr>
            <a:r>
              <a:rPr lang="ko-KR" sz="4000" b="0" spc="-60">
                <a:solidFill>
                  <a:srgbClr val="111111"/>
                </a:solidFill>
                <a:latin typeface="Paperlogy 8 ExtraBold"/>
                <a:ea typeface="Paperlogy 8 ExtraBold"/>
                <a:cs typeface="Paperlogy 8 ExtraBold"/>
              </a:rPr>
              <a:t>0원</a:t>
            </a:r>
          </a:p>
        </p:txBody>
      </p:sp>
      <p:sp>
        <p:nvSpPr>
          <p:cNvPr id="34" name="TextBox 33"/>
          <p:cNvSpPr txBox="1"/>
          <p:nvPr/>
        </p:nvSpPr>
        <p:spPr>
          <a:xfrm>
            <a:off x="9317736" y="5129784"/>
            <a:ext cx="2139696" cy="32004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테스트·CI 비용</a:t>
            </a:r>
          </a:p>
        </p:txBody>
      </p:sp>
      <p:sp>
        <p:nvSpPr>
          <p:cNvPr id="35" name="TextBox 34"/>
          <p:cNvSpPr txBox="1"/>
          <p:nvPr/>
        </p:nvSpPr>
        <p:spPr>
          <a:xfrm>
            <a:off x="9317736" y="5468112"/>
            <a:ext cx="2139696" cy="502920"/>
          </a:xfrm>
          <a:prstGeom prst="rect">
            <a:avLst/>
          </a:prstGeom>
          <a:noFill/>
        </p:spPr>
        <p:txBody>
          <a:bodyPr wrap="square" lIns="0" tIns="0" rIns="0" bIns="0" anchor="t">
            <a:noAutofit/>
          </a:bodyPr>
          <a:lstStyle/>
          <a:p>
            <a:pPr algn="l">
              <a:lnSpc>
                <a:spcPct val="115000"/>
              </a:lnSpc>
              <a:spcAft>
                <a:spcPts val="0"/>
              </a:spcAft>
            </a:pPr>
            <a:r>
              <a:rPr lang="ko-KR" sz="1150" b="0">
                <a:solidFill>
                  <a:srgbClr val="615D59"/>
                </a:solidFill>
                <a:latin typeface="Paperlogy 4 Regular"/>
                <a:ea typeface="Paperlogy 4 Regular"/>
                <a:cs typeface="Paperlogy 4 Regular"/>
              </a:rPr>
              <a:t>API 키 없이 도는 모의 AI 모드</a:t>
            </a:r>
          </a:p>
        </p:txBody>
      </p:sp>
      <p:sp>
        <p:nvSpPr>
          <p:cNvPr id="36" name="TextBox 35"/>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AI 설계</a:t>
            </a:r>
          </a:p>
        </p:txBody>
      </p:sp>
      <p:sp>
        <p:nvSpPr>
          <p:cNvPr id="37" name="TextBox 36"/>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04  구현</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단순하게, 설명할 수 있게</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모든 기술 결정은 ADR(의사결정 기록) 8건으로 남겼습니다</a:t>
            </a:r>
          </a:p>
        </p:txBody>
      </p:sp>
      <p:sp>
        <p:nvSpPr>
          <p:cNvPr id="5" name="Rounded Rectangle 4"/>
          <p:cNvSpPr/>
          <p:nvPr/>
        </p:nvSpPr>
        <p:spPr>
          <a:xfrm>
            <a:off x="548640" y="2011680"/>
            <a:ext cx="5760720" cy="4069080"/>
          </a:xfrm>
          <a:prstGeom prst="roundRect">
            <a:avLst>
              <a:gd name="adj" fmla="val 382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965960" y="2240280"/>
            <a:ext cx="2926080" cy="548640"/>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600" b="0">
                <a:solidFill>
                  <a:srgbClr val="111111"/>
                </a:solidFill>
                <a:latin typeface="Paperlogy 6 SemiBold"/>
                <a:ea typeface="Paperlogy 6 SemiBold"/>
                <a:cs typeface="Paperlogy 6 SemiBold"/>
              </a:rPr>
              <a:t>사용자 · 모바일 웹 / PWA</a:t>
            </a:r>
          </a:p>
        </p:txBody>
      </p:sp>
      <p:cxnSp>
        <p:nvCxnSpPr>
          <p:cNvPr id="7" name="Connector 6"/>
          <p:cNvCxnSpPr/>
          <p:nvPr/>
        </p:nvCxnSpPr>
        <p:spPr>
          <a:xfrm>
            <a:off x="3429000" y="2807208"/>
            <a:ext cx="0" cy="274320"/>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68680" y="3108960"/>
            <a:ext cx="5120640" cy="1508760"/>
          </a:xfrm>
          <a:prstGeom prst="roundRect">
            <a:avLst>
              <a:gd name="adj" fmla="val 8484"/>
            </a:avLst>
          </a:prstGeom>
          <a:solidFill>
            <a:srgbClr val="FFFFFF"/>
          </a:solidFill>
          <a:ln w="12700">
            <a:solidFill>
              <a:srgbClr val="615D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00400"/>
            <a:ext cx="4754879" cy="27432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FastAPI 단일 서비스 (Render)</a:t>
            </a:r>
          </a:p>
        </p:txBody>
      </p:sp>
      <p:sp>
        <p:nvSpPr>
          <p:cNvPr id="10" name="Rounded Rectangle 9"/>
          <p:cNvSpPr/>
          <p:nvPr/>
        </p:nvSpPr>
        <p:spPr>
          <a:xfrm>
            <a:off x="1051560" y="3584448"/>
            <a:ext cx="1106423" cy="868680"/>
          </a:xfrm>
          <a:prstGeom prst="roundRect">
            <a:avLst>
              <a:gd name="adj" fmla="val 10526"/>
            </a:avLst>
          </a:prstGeom>
          <a:solidFill>
            <a:srgbClr val="F6F5F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화면
Jinja2</a:t>
            </a:r>
          </a:p>
        </p:txBody>
      </p:sp>
      <p:sp>
        <p:nvSpPr>
          <p:cNvPr id="11" name="Rounded Rectangle 10"/>
          <p:cNvSpPr/>
          <p:nvPr/>
        </p:nvSpPr>
        <p:spPr>
          <a:xfrm>
            <a:off x="2267711" y="3584448"/>
            <a:ext cx="1106423" cy="868680"/>
          </a:xfrm>
          <a:prstGeom prst="roundRect">
            <a:avLst>
              <a:gd name="adj" fmla="val 10526"/>
            </a:avLst>
          </a:prstGeom>
          <a:solidFill>
            <a:srgbClr val="F6F5F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API · SSE
스트리밍</a:t>
            </a:r>
          </a:p>
        </p:txBody>
      </p:sp>
      <p:sp>
        <p:nvSpPr>
          <p:cNvPr id="12" name="Rounded Rectangle 11"/>
          <p:cNvSpPr/>
          <p:nvPr/>
        </p:nvSpPr>
        <p:spPr>
          <a:xfrm>
            <a:off x="3483863" y="3584448"/>
            <a:ext cx="1106423" cy="868680"/>
          </a:xfrm>
          <a:prstGeom prst="roundRect">
            <a:avLst>
              <a:gd name="adj" fmla="val 10526"/>
            </a:avLst>
          </a:prstGeom>
          <a:solidFill>
            <a:srgbClr val="F6F5F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코치 Agent
도구 호출</a:t>
            </a:r>
          </a:p>
        </p:txBody>
      </p:sp>
      <p:sp>
        <p:nvSpPr>
          <p:cNvPr id="13" name="Rounded Rectangle 12"/>
          <p:cNvSpPr/>
          <p:nvPr/>
        </p:nvSpPr>
        <p:spPr>
          <a:xfrm>
            <a:off x="4700015" y="3584448"/>
            <a:ext cx="1106423" cy="868680"/>
          </a:xfrm>
          <a:prstGeom prst="roundRect">
            <a:avLst>
              <a:gd name="adj" fmla="val 10526"/>
            </a:avLst>
          </a:prstGeom>
          <a:solidFill>
            <a:srgbClr val="F6F5F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계산 엔진
정책 검색</a:t>
            </a:r>
          </a:p>
        </p:txBody>
      </p:sp>
      <p:cxnSp>
        <p:nvCxnSpPr>
          <p:cNvPr id="14" name="Connector 13"/>
          <p:cNvCxnSpPr/>
          <p:nvPr/>
        </p:nvCxnSpPr>
        <p:spPr>
          <a:xfrm>
            <a:off x="1661159" y="4636008"/>
            <a:ext cx="0" cy="393192"/>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8680" y="5056632"/>
            <a:ext cx="1584959" cy="685800"/>
          </a:xfrm>
          <a:prstGeom prst="roundRect">
            <a:avLst>
              <a:gd name="adj" fmla="val 13333"/>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Claude API</a:t>
            </a:r>
          </a:p>
        </p:txBody>
      </p:sp>
      <p:sp>
        <p:nvSpPr>
          <p:cNvPr id="16" name="Oval 15"/>
          <p:cNvSpPr/>
          <p:nvPr/>
        </p:nvSpPr>
        <p:spPr>
          <a:xfrm>
            <a:off x="978407" y="5120640"/>
            <a:ext cx="109728" cy="109728"/>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3428999" y="4636008"/>
            <a:ext cx="0" cy="393192"/>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36519" y="5056632"/>
            <a:ext cx="1584959" cy="685800"/>
          </a:xfrm>
          <a:prstGeom prst="roundRect">
            <a:avLst>
              <a:gd name="adj" fmla="val 13333"/>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SQLite → PostgreSQL</a:t>
            </a:r>
          </a:p>
        </p:txBody>
      </p:sp>
      <p:sp>
        <p:nvSpPr>
          <p:cNvPr id="19" name="Oval 18"/>
          <p:cNvSpPr/>
          <p:nvPr/>
        </p:nvSpPr>
        <p:spPr>
          <a:xfrm>
            <a:off x="2746247" y="5120640"/>
            <a:ext cx="109728" cy="109728"/>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5196839" y="4636008"/>
            <a:ext cx="0" cy="393192"/>
          </a:xfrm>
          <a:prstGeom prst="line">
            <a:avLst/>
          </a:prstGeom>
          <a:ln w="15875">
            <a:solidFill>
              <a:srgbClr val="615D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04360" y="5056632"/>
            <a:ext cx="1584959" cy="685800"/>
          </a:xfrm>
          <a:prstGeom prst="roundRect">
            <a:avLst>
              <a:gd name="adj" fmla="val 13333"/>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lang="ko-KR" sz="1200" b="0">
                <a:solidFill>
                  <a:srgbClr val="111111"/>
                </a:solidFill>
                <a:latin typeface="Paperlogy 6 SemiBold"/>
                <a:ea typeface="Paperlogy 6 SemiBold"/>
                <a:cs typeface="Paperlogy 6 SemiBold"/>
              </a:rPr>
              <a:t>n8n 자동화</a:t>
            </a:r>
          </a:p>
        </p:txBody>
      </p:sp>
      <p:sp>
        <p:nvSpPr>
          <p:cNvPr id="22" name="Oval 21"/>
          <p:cNvSpPr/>
          <p:nvPr/>
        </p:nvSpPr>
        <p:spPr>
          <a:xfrm>
            <a:off x="4514088" y="5120640"/>
            <a:ext cx="109728" cy="109728"/>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59" y="2011680"/>
            <a:ext cx="5102352" cy="4069080"/>
          </a:xfrm>
          <a:prstGeom prst="roundRect">
            <a:avLst>
              <a:gd name="adj" fmla="val 382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12279" y="2212848"/>
            <a:ext cx="4553712"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기술 결정 기록 (ADR)</a:t>
            </a:r>
          </a:p>
        </p:txBody>
      </p:sp>
      <p:sp>
        <p:nvSpPr>
          <p:cNvPr id="25" name="Rectangle 24"/>
          <p:cNvSpPr/>
          <p:nvPr/>
        </p:nvSpPr>
        <p:spPr>
          <a:xfrm>
            <a:off x="6812279" y="2633472"/>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12279" y="2715768"/>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단일 서비스</a:t>
            </a:r>
          </a:p>
        </p:txBody>
      </p:sp>
      <p:sp>
        <p:nvSpPr>
          <p:cNvPr id="27" name="TextBox 26"/>
          <p:cNvSpPr txBox="1"/>
          <p:nvPr/>
        </p:nvSpPr>
        <p:spPr>
          <a:xfrm>
            <a:off x="8229600" y="2715768"/>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Python 하나로 개발, 서비스 1개로 배포</a:t>
            </a:r>
          </a:p>
        </p:txBody>
      </p:sp>
      <p:sp>
        <p:nvSpPr>
          <p:cNvPr id="28" name="Rectangle 27"/>
          <p:cNvSpPr/>
          <p:nvPr/>
        </p:nvSpPr>
        <p:spPr>
          <a:xfrm>
            <a:off x="6812279" y="3054096"/>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12279" y="3136392"/>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모의 AI 모드</a:t>
            </a:r>
          </a:p>
        </p:txBody>
      </p:sp>
      <p:sp>
        <p:nvSpPr>
          <p:cNvPr id="30" name="TextBox 29"/>
          <p:cNvSpPr txBox="1"/>
          <p:nvPr/>
        </p:nvSpPr>
        <p:spPr>
          <a:xfrm>
            <a:off x="8229600" y="3136392"/>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API 키 없이 전체 흐름 동작, 테스트 비용 0원</a:t>
            </a:r>
          </a:p>
        </p:txBody>
      </p:sp>
      <p:sp>
        <p:nvSpPr>
          <p:cNvPr id="31" name="Rectangle 30"/>
          <p:cNvSpPr/>
          <p:nvPr/>
        </p:nvSpPr>
        <p:spPr>
          <a:xfrm>
            <a:off x="6812279" y="3474720"/>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12279" y="3557016"/>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BM25 검색</a:t>
            </a:r>
          </a:p>
        </p:txBody>
      </p:sp>
      <p:sp>
        <p:nvSpPr>
          <p:cNvPr id="33" name="TextBox 32"/>
          <p:cNvSpPr txBox="1"/>
          <p:nvPr/>
        </p:nvSpPr>
        <p:spPr>
          <a:xfrm>
            <a:off x="8229600" y="3557016"/>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수백 청크 규모엔 벡터 DB가 필요 없음</a:t>
            </a:r>
          </a:p>
        </p:txBody>
      </p:sp>
      <p:sp>
        <p:nvSpPr>
          <p:cNvPr id="34" name="Rectangle 33"/>
          <p:cNvSpPr/>
          <p:nvPr/>
        </p:nvSpPr>
        <p:spPr>
          <a:xfrm>
            <a:off x="6812279" y="3895344"/>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12279" y="3977639"/>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무료 배포</a:t>
            </a:r>
          </a:p>
        </p:txBody>
      </p:sp>
      <p:sp>
        <p:nvSpPr>
          <p:cNvPr id="36" name="TextBox 35"/>
          <p:cNvSpPr txBox="1"/>
          <p:nvPr/>
        </p:nvSpPr>
        <p:spPr>
          <a:xfrm>
            <a:off x="8229600" y="3977639"/>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DB는 늦게 만들어 30일 만료를 발표 뒤로</a:t>
            </a:r>
          </a:p>
        </p:txBody>
      </p:sp>
      <p:sp>
        <p:nvSpPr>
          <p:cNvPr id="37" name="Rectangle 36"/>
          <p:cNvSpPr/>
          <p:nvPr/>
        </p:nvSpPr>
        <p:spPr>
          <a:xfrm>
            <a:off x="6812279" y="4315968"/>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12279" y="4398264"/>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계산은 코드</a:t>
            </a:r>
          </a:p>
        </p:txBody>
      </p:sp>
      <p:sp>
        <p:nvSpPr>
          <p:cNvPr id="39" name="TextBox 38"/>
          <p:cNvSpPr txBox="1"/>
          <p:nvPr/>
        </p:nvSpPr>
        <p:spPr>
          <a:xfrm>
            <a:off x="8229600" y="4398264"/>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LLM의 산술 오류를 구조적으로 차단</a:t>
            </a:r>
          </a:p>
        </p:txBody>
      </p:sp>
      <p:sp>
        <p:nvSpPr>
          <p:cNvPr id="40" name="Rectangle 39"/>
          <p:cNvSpPr/>
          <p:nvPr/>
        </p:nvSpPr>
        <p:spPr>
          <a:xfrm>
            <a:off x="6812279" y="4736592"/>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12279" y="4818888"/>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세션 인증</a:t>
            </a:r>
          </a:p>
        </p:txBody>
      </p:sp>
      <p:sp>
        <p:nvSpPr>
          <p:cNvPr id="42" name="TextBox 41"/>
          <p:cNvSpPr txBox="1"/>
          <p:nvPr/>
        </p:nvSpPr>
        <p:spPr>
          <a:xfrm>
            <a:off x="8229600" y="4818888"/>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외부 인증 서비스 없이 scrypt + 서명 쿠키</a:t>
            </a:r>
          </a:p>
        </p:txBody>
      </p:sp>
      <p:sp>
        <p:nvSpPr>
          <p:cNvPr id="43" name="Rectangle 42"/>
          <p:cNvSpPr/>
          <p:nvPr/>
        </p:nvSpPr>
        <p:spPr>
          <a:xfrm>
            <a:off x="6812279" y="5157216"/>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12279" y="5239512"/>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SDK 루프</a:t>
            </a:r>
          </a:p>
        </p:txBody>
      </p:sp>
      <p:sp>
        <p:nvSpPr>
          <p:cNvPr id="45" name="TextBox 44"/>
          <p:cNvSpPr txBox="1"/>
          <p:nvPr/>
        </p:nvSpPr>
        <p:spPr>
          <a:xfrm>
            <a:off x="8229600" y="5239512"/>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프레임워크 없이 60줄, 팀 누구나 설명 가능</a:t>
            </a:r>
          </a:p>
        </p:txBody>
      </p:sp>
      <p:sp>
        <p:nvSpPr>
          <p:cNvPr id="46" name="Rectangle 45"/>
          <p:cNvSpPr/>
          <p:nvPr/>
        </p:nvSpPr>
        <p:spPr>
          <a:xfrm>
            <a:off x="6812279" y="5577840"/>
            <a:ext cx="455371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2279" y="5660136"/>
            <a:ext cx="1417320" cy="320040"/>
          </a:xfrm>
          <a:prstGeom prst="rect">
            <a:avLst/>
          </a:prstGeom>
          <a:noFill/>
        </p:spPr>
        <p:txBody>
          <a:bodyPr wrap="square" lIns="0" tIns="0" rIns="0" bIns="0" anchor="t">
            <a:noAutofit/>
          </a:bodyPr>
          <a:lstStyle/>
          <a:p>
            <a:pPr algn="l">
              <a:spcAft>
                <a:spcPts val="0"/>
              </a:spcAft>
            </a:pPr>
            <a:r>
              <a:rPr lang="ko-KR" sz="1200" b="0">
                <a:solidFill>
                  <a:srgbClr val="111111"/>
                </a:solidFill>
                <a:latin typeface="Paperlogy 6 SemiBold"/>
                <a:ea typeface="Paperlogy 6 SemiBold"/>
                <a:cs typeface="Paperlogy 6 SemiBold"/>
              </a:rPr>
              <a:t>디자인 시스템</a:t>
            </a:r>
          </a:p>
        </p:txBody>
      </p:sp>
      <p:sp>
        <p:nvSpPr>
          <p:cNvPr id="48" name="TextBox 47"/>
          <p:cNvSpPr txBox="1"/>
          <p:nvPr/>
        </p:nvSpPr>
        <p:spPr>
          <a:xfrm>
            <a:off x="8229600" y="5660136"/>
            <a:ext cx="3136392" cy="365760"/>
          </a:xfrm>
          <a:prstGeom prst="rect">
            <a:avLst/>
          </a:prstGeom>
          <a:noFill/>
        </p:spPr>
        <p:txBody>
          <a:bodyPr wrap="square" lIns="0" tIns="0" rIns="0" bIns="0" anchor="t">
            <a:noAutofit/>
          </a:bodyPr>
          <a:lstStyle/>
          <a:p>
            <a:pPr algn="l">
              <a:spcAft>
                <a:spcPts val="0"/>
              </a:spcAft>
            </a:pPr>
            <a:r>
              <a:rPr lang="ko-KR" sz="1300" b="0">
                <a:solidFill>
                  <a:srgbClr val="31302E"/>
                </a:solidFill>
                <a:latin typeface="Paperlogy 4 Regular"/>
                <a:ea typeface="Paperlogy 4 Regular"/>
                <a:cs typeface="Paperlogy 4 Regular"/>
              </a:rPr>
              <a:t>강조색 하나, 한 화면에 질문 하나</a:t>
            </a:r>
          </a:p>
        </p:txBody>
      </p:sp>
      <p:sp>
        <p:nvSpPr>
          <p:cNvPr id="49" name="TextBox 48"/>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구현</a:t>
            </a:r>
          </a:p>
        </p:txBody>
      </p:sp>
      <p:sp>
        <p:nvSpPr>
          <p:cNvPr id="50" name="TextBox 49"/>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05  협업</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5명이 나눠 맡는 26개의 이슈</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기능 단위 오너십  ·  PR 교차 리뷰  ·  CI 자동 검증</a:t>
            </a:r>
          </a:p>
        </p:txBody>
      </p:sp>
      <p:sp>
        <p:nvSpPr>
          <p:cNvPr id="5" name="Rounded Rectangle 4"/>
          <p:cNvSpPr/>
          <p:nvPr/>
        </p:nvSpPr>
        <p:spPr>
          <a:xfrm>
            <a:off x="548640" y="2011680"/>
            <a:ext cx="2103120" cy="2926080"/>
          </a:xfrm>
          <a:prstGeom prst="roundRect">
            <a:avLst>
              <a:gd name="adj" fmla="val 739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 Same Side Corner Rectangle 5"/>
          <p:cNvSpPr/>
          <p:nvPr/>
        </p:nvSpPr>
        <p:spPr>
          <a:xfrm>
            <a:off x="548640" y="2011680"/>
            <a:ext cx="2103120" cy="658368"/>
          </a:xfrm>
          <a:prstGeom prst="round2SameRect">
            <a:avLst>
              <a:gd name="adj1" fmla="val 23611"/>
              <a:gd name="adj2" fmla="val 0"/>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l"/>
            <a:r>
              <a:rPr lang="ko-KR" sz="1900" b="0" spc="-20">
                <a:solidFill>
                  <a:srgbClr val="111111"/>
                </a:solidFill>
                <a:latin typeface="Paperlogy 7 Bold"/>
                <a:ea typeface="Paperlogy 7 Bold"/>
                <a:cs typeface="Paperlogy 7 Bold"/>
              </a:rPr>
              <a:t>팀장·PM</a:t>
            </a:r>
          </a:p>
        </p:txBody>
      </p:sp>
      <p:sp>
        <p:nvSpPr>
          <p:cNvPr id="7" name="TextBox 6"/>
          <p:cNvSpPr txBox="1"/>
          <p:nvPr/>
        </p:nvSpPr>
        <p:spPr>
          <a:xfrm>
            <a:off x="777240" y="2816352"/>
            <a:ext cx="1645919"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담당 ○○○</a:t>
            </a:r>
          </a:p>
        </p:txBody>
      </p:sp>
      <p:sp>
        <p:nvSpPr>
          <p:cNvPr id="8" name="Oval 7"/>
          <p:cNvSpPr/>
          <p:nvPr/>
        </p:nvSpPr>
        <p:spPr>
          <a:xfrm>
            <a:off x="795528" y="3291840"/>
            <a:ext cx="91440" cy="9144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3200400"/>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협업 체계·이슈 등록</a:t>
            </a:r>
          </a:p>
        </p:txBody>
      </p:sp>
      <p:sp>
        <p:nvSpPr>
          <p:cNvPr id="10" name="Oval 9"/>
          <p:cNvSpPr/>
          <p:nvPr/>
        </p:nvSpPr>
        <p:spPr>
          <a:xfrm>
            <a:off x="795528" y="3822191"/>
            <a:ext cx="91440" cy="9144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3730752"/>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피드백 → GitHub Issue</a:t>
            </a:r>
          </a:p>
        </p:txBody>
      </p:sp>
      <p:sp>
        <p:nvSpPr>
          <p:cNvPr id="12" name="Oval 11"/>
          <p:cNvSpPr/>
          <p:nvPr/>
        </p:nvSpPr>
        <p:spPr>
          <a:xfrm>
            <a:off x="795528" y="4352544"/>
            <a:ext cx="91440" cy="9144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7552" y="4261104"/>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사용자 테스트·발표</a:t>
            </a:r>
          </a:p>
        </p:txBody>
      </p:sp>
      <p:sp>
        <p:nvSpPr>
          <p:cNvPr id="14" name="Rounded Rectangle 13"/>
          <p:cNvSpPr/>
          <p:nvPr/>
        </p:nvSpPr>
        <p:spPr>
          <a:xfrm>
            <a:off x="2795778" y="2011680"/>
            <a:ext cx="2103120" cy="2926080"/>
          </a:xfrm>
          <a:prstGeom prst="roundRect">
            <a:avLst>
              <a:gd name="adj" fmla="val 739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 Same Side Corner Rectangle 14"/>
          <p:cNvSpPr/>
          <p:nvPr/>
        </p:nvSpPr>
        <p:spPr>
          <a:xfrm>
            <a:off x="2795778" y="2011680"/>
            <a:ext cx="2103120" cy="658368"/>
          </a:xfrm>
          <a:prstGeom prst="round2SameRect">
            <a:avLst>
              <a:gd name="adj1" fmla="val 23611"/>
              <a:gd name="adj2" fmla="val 0"/>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l"/>
            <a:r>
              <a:rPr lang="ko-KR" sz="1900" b="0" spc="-20">
                <a:solidFill>
                  <a:srgbClr val="111111"/>
                </a:solidFill>
                <a:latin typeface="Paperlogy 7 Bold"/>
                <a:ea typeface="Paperlogy 7 Bold"/>
                <a:cs typeface="Paperlogy 7 Bold"/>
              </a:rPr>
              <a:t>프론트엔드</a:t>
            </a:r>
          </a:p>
        </p:txBody>
      </p:sp>
      <p:sp>
        <p:nvSpPr>
          <p:cNvPr id="16" name="TextBox 15"/>
          <p:cNvSpPr txBox="1"/>
          <p:nvPr/>
        </p:nvSpPr>
        <p:spPr>
          <a:xfrm>
            <a:off x="3024378" y="2816352"/>
            <a:ext cx="1645919"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담당 ○○○</a:t>
            </a:r>
          </a:p>
        </p:txBody>
      </p:sp>
      <p:sp>
        <p:nvSpPr>
          <p:cNvPr id="17" name="Oval 16"/>
          <p:cNvSpPr/>
          <p:nvPr/>
        </p:nvSpPr>
        <p:spPr>
          <a:xfrm>
            <a:off x="3042666" y="3291840"/>
            <a:ext cx="91440" cy="91440"/>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34690" y="3200400"/>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목표 대시보드</a:t>
            </a:r>
          </a:p>
        </p:txBody>
      </p:sp>
      <p:sp>
        <p:nvSpPr>
          <p:cNvPr id="19" name="Oval 18"/>
          <p:cNvSpPr/>
          <p:nvPr/>
        </p:nvSpPr>
        <p:spPr>
          <a:xfrm>
            <a:off x="3042666" y="3822191"/>
            <a:ext cx="91440" cy="91440"/>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34690" y="3730752"/>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소비 분석 화면</a:t>
            </a:r>
          </a:p>
        </p:txBody>
      </p:sp>
      <p:sp>
        <p:nvSpPr>
          <p:cNvPr id="21" name="Oval 20"/>
          <p:cNvSpPr/>
          <p:nvPr/>
        </p:nvSpPr>
        <p:spPr>
          <a:xfrm>
            <a:off x="3042666" y="4352544"/>
            <a:ext cx="91440" cy="91440"/>
          </a:xfrm>
          <a:prstGeom prst="ellipse">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34690" y="4261104"/>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영수증 촬영·PWA 설치</a:t>
            </a:r>
          </a:p>
        </p:txBody>
      </p:sp>
      <p:sp>
        <p:nvSpPr>
          <p:cNvPr id="23" name="Rounded Rectangle 22"/>
          <p:cNvSpPr/>
          <p:nvPr/>
        </p:nvSpPr>
        <p:spPr>
          <a:xfrm>
            <a:off x="5042916" y="2011680"/>
            <a:ext cx="2103120" cy="2926080"/>
          </a:xfrm>
          <a:prstGeom prst="roundRect">
            <a:avLst>
              <a:gd name="adj" fmla="val 739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 Same Side Corner Rectangle 23"/>
          <p:cNvSpPr/>
          <p:nvPr/>
        </p:nvSpPr>
        <p:spPr>
          <a:xfrm>
            <a:off x="5042916" y="2011680"/>
            <a:ext cx="2103120" cy="658368"/>
          </a:xfrm>
          <a:prstGeom prst="round2SameRect">
            <a:avLst>
              <a:gd name="adj1" fmla="val 23611"/>
              <a:gd name="adj2" fmla="val 0"/>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l"/>
            <a:r>
              <a:rPr lang="ko-KR" sz="1900" b="0" spc="-20">
                <a:solidFill>
                  <a:srgbClr val="FFFFFF"/>
                </a:solidFill>
                <a:latin typeface="Paperlogy 7 Bold"/>
                <a:ea typeface="Paperlogy 7 Bold"/>
                <a:cs typeface="Paperlogy 7 Bold"/>
              </a:rPr>
              <a:t>백엔드·인프라</a:t>
            </a:r>
          </a:p>
        </p:txBody>
      </p:sp>
      <p:sp>
        <p:nvSpPr>
          <p:cNvPr id="25" name="TextBox 24"/>
          <p:cNvSpPr txBox="1"/>
          <p:nvPr/>
        </p:nvSpPr>
        <p:spPr>
          <a:xfrm>
            <a:off x="5271516" y="2816352"/>
            <a:ext cx="1645919"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담당 ○○○</a:t>
            </a:r>
          </a:p>
        </p:txBody>
      </p:sp>
      <p:sp>
        <p:nvSpPr>
          <p:cNvPr id="26" name="Oval 25"/>
          <p:cNvSpPr/>
          <p:nvPr/>
        </p:nvSpPr>
        <p:spPr>
          <a:xfrm>
            <a:off x="5289804" y="3291840"/>
            <a:ext cx="91440" cy="9144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1827" y="3200400"/>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거래내역 분석 API</a:t>
            </a:r>
          </a:p>
        </p:txBody>
      </p:sp>
      <p:sp>
        <p:nvSpPr>
          <p:cNvPr id="28" name="Oval 27"/>
          <p:cNvSpPr/>
          <p:nvPr/>
        </p:nvSpPr>
        <p:spPr>
          <a:xfrm>
            <a:off x="5289804" y="3822191"/>
            <a:ext cx="91440" cy="9144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1827" y="3730752"/>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PostgreSQL 전환</a:t>
            </a:r>
          </a:p>
        </p:txBody>
      </p:sp>
      <p:sp>
        <p:nvSpPr>
          <p:cNvPr id="30" name="Oval 29"/>
          <p:cNvSpPr/>
          <p:nvPr/>
        </p:nvSpPr>
        <p:spPr>
          <a:xfrm>
            <a:off x="5289804" y="4352544"/>
            <a:ext cx="91440" cy="9144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1827" y="4261104"/>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보안 강화·저축 기록</a:t>
            </a:r>
          </a:p>
        </p:txBody>
      </p:sp>
      <p:sp>
        <p:nvSpPr>
          <p:cNvPr id="32" name="Rounded Rectangle 31"/>
          <p:cNvSpPr/>
          <p:nvPr/>
        </p:nvSpPr>
        <p:spPr>
          <a:xfrm>
            <a:off x="7290054" y="2011680"/>
            <a:ext cx="2103120" cy="2926080"/>
          </a:xfrm>
          <a:prstGeom prst="roundRect">
            <a:avLst>
              <a:gd name="adj" fmla="val 739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 Same Side Corner Rectangle 32"/>
          <p:cNvSpPr/>
          <p:nvPr/>
        </p:nvSpPr>
        <p:spPr>
          <a:xfrm>
            <a:off x="7290054" y="2011680"/>
            <a:ext cx="2103120" cy="658368"/>
          </a:xfrm>
          <a:prstGeom prst="round2SameRect">
            <a:avLst>
              <a:gd name="adj1" fmla="val 23611"/>
              <a:gd name="adj2" fmla="val 0"/>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l"/>
            <a:r>
              <a:rPr lang="ko-KR" sz="1900" b="0" spc="-20">
                <a:solidFill>
                  <a:srgbClr val="FFFFFF"/>
                </a:solidFill>
                <a:latin typeface="Paperlogy 7 Bold"/>
                <a:ea typeface="Paperlogy 7 Bold"/>
                <a:cs typeface="Paperlogy 7 Bold"/>
              </a:rPr>
              <a:t>AI Agent</a:t>
            </a:r>
          </a:p>
        </p:txBody>
      </p:sp>
      <p:sp>
        <p:nvSpPr>
          <p:cNvPr id="34" name="TextBox 33"/>
          <p:cNvSpPr txBox="1"/>
          <p:nvPr/>
        </p:nvSpPr>
        <p:spPr>
          <a:xfrm>
            <a:off x="7518654" y="2816352"/>
            <a:ext cx="1645919"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담당 ○○○</a:t>
            </a:r>
          </a:p>
        </p:txBody>
      </p:sp>
      <p:sp>
        <p:nvSpPr>
          <p:cNvPr id="35" name="Oval 34"/>
          <p:cNvSpPr/>
          <p:nvPr/>
        </p:nvSpPr>
        <p:spPr>
          <a:xfrm>
            <a:off x="7536942" y="3291840"/>
            <a:ext cx="91440" cy="9144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28966" y="3200400"/>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실제 Claude 연결·모델 비교</a:t>
            </a:r>
          </a:p>
        </p:txBody>
      </p:sp>
      <p:sp>
        <p:nvSpPr>
          <p:cNvPr id="37" name="Oval 36"/>
          <p:cNvSpPr/>
          <p:nvPr/>
        </p:nvSpPr>
        <p:spPr>
          <a:xfrm>
            <a:off x="7536942" y="3822191"/>
            <a:ext cx="91440" cy="9144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28966" y="3730752"/>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영수증 인식 (멀티모달)</a:t>
            </a:r>
          </a:p>
        </p:txBody>
      </p:sp>
      <p:sp>
        <p:nvSpPr>
          <p:cNvPr id="39" name="Oval 38"/>
          <p:cNvSpPr/>
          <p:nvPr/>
        </p:nvSpPr>
        <p:spPr>
          <a:xfrm>
            <a:off x="7536942" y="4352544"/>
            <a:ext cx="91440" cy="9144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28966" y="4261104"/>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레드팀·응답 품질 평가</a:t>
            </a:r>
          </a:p>
        </p:txBody>
      </p:sp>
      <p:sp>
        <p:nvSpPr>
          <p:cNvPr id="41" name="Rounded Rectangle 40"/>
          <p:cNvSpPr/>
          <p:nvPr/>
        </p:nvSpPr>
        <p:spPr>
          <a:xfrm>
            <a:off x="9537192" y="2011680"/>
            <a:ext cx="2103120" cy="2926080"/>
          </a:xfrm>
          <a:prstGeom prst="roundRect">
            <a:avLst>
              <a:gd name="adj" fmla="val 739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 Same Side Corner Rectangle 41"/>
          <p:cNvSpPr/>
          <p:nvPr/>
        </p:nvSpPr>
        <p:spPr>
          <a:xfrm>
            <a:off x="9537192" y="2011680"/>
            <a:ext cx="2103120" cy="658368"/>
          </a:xfrm>
          <a:prstGeom prst="round2SameRect">
            <a:avLst>
              <a:gd name="adj1" fmla="val 23611"/>
              <a:gd name="adj2" fmla="val 0"/>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l"/>
            <a:r>
              <a:rPr lang="ko-KR" sz="1900" b="0" spc="-20">
                <a:solidFill>
                  <a:srgbClr val="FFFFFF"/>
                </a:solidFill>
                <a:latin typeface="Paperlogy 7 Bold"/>
                <a:ea typeface="Paperlogy 7 Bold"/>
                <a:cs typeface="Paperlogy 7 Bold"/>
              </a:rPr>
              <a:t>RAG·자동화</a:t>
            </a:r>
          </a:p>
        </p:txBody>
      </p:sp>
      <p:sp>
        <p:nvSpPr>
          <p:cNvPr id="43" name="TextBox 42"/>
          <p:cNvSpPr txBox="1"/>
          <p:nvPr/>
        </p:nvSpPr>
        <p:spPr>
          <a:xfrm>
            <a:off x="9765792" y="2816352"/>
            <a:ext cx="1645919"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담당 ○○○</a:t>
            </a:r>
          </a:p>
        </p:txBody>
      </p:sp>
      <p:sp>
        <p:nvSpPr>
          <p:cNvPr id="44" name="Oval 43"/>
          <p:cNvSpPr/>
          <p:nvPr/>
        </p:nvSpPr>
        <p:spPr>
          <a:xfrm>
            <a:off x="9784080" y="3291840"/>
            <a:ext cx="91440" cy="91440"/>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6104" y="3200400"/>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정책 데이터 검수·확장</a:t>
            </a:r>
          </a:p>
        </p:txBody>
      </p:sp>
      <p:sp>
        <p:nvSpPr>
          <p:cNvPr id="46" name="Oval 45"/>
          <p:cNvSpPr/>
          <p:nvPr/>
        </p:nvSpPr>
        <p:spPr>
          <a:xfrm>
            <a:off x="9784080" y="3822191"/>
            <a:ext cx="91440" cy="91440"/>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976104" y="3730752"/>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온통청년·금감원 API</a:t>
            </a:r>
          </a:p>
        </p:txBody>
      </p:sp>
      <p:sp>
        <p:nvSpPr>
          <p:cNvPr id="48" name="Oval 47"/>
          <p:cNvSpPr/>
          <p:nvPr/>
        </p:nvSpPr>
        <p:spPr>
          <a:xfrm>
            <a:off x="9784080" y="4352544"/>
            <a:ext cx="91440" cy="91440"/>
          </a:xfrm>
          <a:prstGeom prst="ellipse">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976104" y="4261104"/>
            <a:ext cx="1481327" cy="502920"/>
          </a:xfrm>
          <a:prstGeom prst="rect">
            <a:avLst/>
          </a:prstGeom>
          <a:noFill/>
        </p:spPr>
        <p:txBody>
          <a:bodyPr wrap="square" lIns="0" tIns="0" rIns="0" bIns="0" anchor="t">
            <a:noAutofit/>
          </a:bodyPr>
          <a:lstStyle/>
          <a:p>
            <a:pPr algn="l">
              <a:lnSpc>
                <a:spcPct val="115000"/>
              </a:lnSpc>
              <a:spcAft>
                <a:spcPts val="0"/>
              </a:spcAft>
            </a:pPr>
            <a:r>
              <a:rPr lang="ko-KR" sz="1300" b="0">
                <a:solidFill>
                  <a:srgbClr val="111111"/>
                </a:solidFill>
                <a:latin typeface="Paperlogy 4 Regular"/>
                <a:ea typeface="Paperlogy 4 Regular"/>
                <a:cs typeface="Paperlogy 4 Regular"/>
              </a:rPr>
              <a:t>n8n 주간 체크인</a:t>
            </a:r>
          </a:p>
        </p:txBody>
      </p:sp>
      <p:sp>
        <p:nvSpPr>
          <p:cNvPr id="50" name="Rounded Rectangle 49"/>
          <p:cNvSpPr/>
          <p:nvPr/>
        </p:nvSpPr>
        <p:spPr>
          <a:xfrm>
            <a:off x="548640" y="5138928"/>
            <a:ext cx="11091672" cy="941832"/>
          </a:xfrm>
          <a:prstGeom prst="roundRect">
            <a:avLst>
              <a:gd name="adj" fmla="val 16504"/>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19555" y="5422392"/>
            <a:ext cx="1600200" cy="384048"/>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이슈 (FR-ID)</a:t>
            </a:r>
          </a:p>
        </p:txBody>
      </p:sp>
      <p:cxnSp>
        <p:nvCxnSpPr>
          <p:cNvPr id="52" name="Connector 51"/>
          <p:cNvCxnSpPr/>
          <p:nvPr/>
        </p:nvCxnSpPr>
        <p:spPr>
          <a:xfrm>
            <a:off x="2683763" y="5614416"/>
            <a:ext cx="28346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3031236" y="5422392"/>
            <a:ext cx="1097280" cy="384048"/>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브랜치</a:t>
            </a:r>
          </a:p>
        </p:txBody>
      </p:sp>
      <p:cxnSp>
        <p:nvCxnSpPr>
          <p:cNvPr id="54" name="Connector 53"/>
          <p:cNvCxnSpPr/>
          <p:nvPr/>
        </p:nvCxnSpPr>
        <p:spPr>
          <a:xfrm>
            <a:off x="4192524" y="5614416"/>
            <a:ext cx="28346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539996" y="5422392"/>
            <a:ext cx="1920240" cy="384048"/>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PR · 리뷰 1인 이상</a:t>
            </a:r>
          </a:p>
        </p:txBody>
      </p:sp>
      <p:cxnSp>
        <p:nvCxnSpPr>
          <p:cNvPr id="56" name="Connector 55"/>
          <p:cNvCxnSpPr/>
          <p:nvPr/>
        </p:nvCxnSpPr>
        <p:spPr>
          <a:xfrm>
            <a:off x="6524244" y="5614416"/>
            <a:ext cx="283463"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6871716" y="5422392"/>
            <a:ext cx="2103120" cy="384048"/>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CI: 테스트 · AI 평가</a:t>
            </a:r>
          </a:p>
        </p:txBody>
      </p:sp>
      <p:cxnSp>
        <p:nvCxnSpPr>
          <p:cNvPr id="58" name="Connector 57"/>
          <p:cNvCxnSpPr/>
          <p:nvPr/>
        </p:nvCxnSpPr>
        <p:spPr>
          <a:xfrm>
            <a:off x="9038844" y="5614416"/>
            <a:ext cx="283464"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386316" y="5422392"/>
            <a:ext cx="1783080" cy="384048"/>
          </a:xfrm>
          <a:prstGeom prst="roundRect">
            <a:avLst>
              <a:gd name="adj" fmla="val 50000"/>
            </a:avLst>
          </a:prstGeom>
          <a:solidFill>
            <a:srgbClr val="F6F5F4"/>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a:solidFill>
                  <a:srgbClr val="111111"/>
                </a:solidFill>
                <a:latin typeface="Paperlogy 6 SemiBold"/>
                <a:ea typeface="Paperlogy 6 SemiBold"/>
                <a:cs typeface="Paperlogy 6 SemiBold"/>
              </a:rPr>
              <a:t>머지 · 자동 배포</a:t>
            </a:r>
          </a:p>
        </p:txBody>
      </p:sp>
      <p:sp>
        <p:nvSpPr>
          <p:cNvPr id="60" name="TextBox 59"/>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협업</a:t>
            </a:r>
          </a:p>
        </p:txBody>
      </p:sp>
      <p:sp>
        <p:nvSpPr>
          <p:cNvPr id="61" name="TextBox 60"/>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9387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06  검증</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사용자 테스트 결과</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만 19~34세 청년 10명 · 1주 실사용 (10/24~11/1)  ·  [테스트 후 입력]</a:t>
            </a:r>
          </a:p>
        </p:txBody>
      </p:sp>
      <p:sp>
        <p:nvSpPr>
          <p:cNvPr id="5" name="Rounded Rectangle 4"/>
          <p:cNvSpPr/>
          <p:nvPr/>
        </p:nvSpPr>
        <p:spPr>
          <a:xfrm>
            <a:off x="548640" y="2011680"/>
            <a:ext cx="2628900" cy="1737360"/>
          </a:xfrm>
          <a:prstGeom prst="roundRect">
            <a:avLst>
              <a:gd name="adj" fmla="val 894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212848"/>
            <a:ext cx="2080260" cy="27432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SUS 사용성 점수</a:t>
            </a:r>
          </a:p>
        </p:txBody>
      </p:sp>
      <p:sp>
        <p:nvSpPr>
          <p:cNvPr id="7" name="TextBox 6"/>
          <p:cNvSpPr txBox="1"/>
          <p:nvPr/>
        </p:nvSpPr>
        <p:spPr>
          <a:xfrm>
            <a:off x="822959" y="2542032"/>
            <a:ext cx="2080260" cy="685800"/>
          </a:xfrm>
          <a:prstGeom prst="rect">
            <a:avLst/>
          </a:prstGeom>
          <a:noFill/>
        </p:spPr>
        <p:txBody>
          <a:bodyPr wrap="square" lIns="0" tIns="0" rIns="0" bIns="0" anchor="t">
            <a:noAutofit/>
          </a:bodyPr>
          <a:lstStyle/>
          <a:p>
            <a:pPr algn="l">
              <a:spcAft>
                <a:spcPts val="0"/>
              </a:spcAft>
            </a:pPr>
            <a:r>
              <a:rPr lang="ko-KR" sz="4000" b="0" spc="-60">
                <a:solidFill>
                  <a:srgbClr val="A39E98"/>
                </a:solidFill>
                <a:latin typeface="Paperlogy 8 ExtraBold"/>
                <a:ea typeface="Paperlogy 8 ExtraBold"/>
                <a:cs typeface="Paperlogy 8 ExtraBold"/>
              </a:rPr>
              <a:t>—</a:t>
            </a:r>
          </a:p>
        </p:txBody>
      </p:sp>
      <p:sp>
        <p:nvSpPr>
          <p:cNvPr id="8" name="TextBox 7"/>
          <p:cNvSpPr txBox="1"/>
          <p:nvPr/>
        </p:nvSpPr>
        <p:spPr>
          <a:xfrm>
            <a:off x="822959" y="3310128"/>
            <a:ext cx="20802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목표 70점 이상</a:t>
            </a:r>
          </a:p>
        </p:txBody>
      </p:sp>
      <p:sp>
        <p:nvSpPr>
          <p:cNvPr id="9" name="Rounded Rectangle 8"/>
          <p:cNvSpPr/>
          <p:nvPr/>
        </p:nvSpPr>
        <p:spPr>
          <a:xfrm>
            <a:off x="3369564" y="2011680"/>
            <a:ext cx="2628900" cy="1737360"/>
          </a:xfrm>
          <a:prstGeom prst="roundRect">
            <a:avLst>
              <a:gd name="adj" fmla="val 894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43884" y="2212848"/>
            <a:ext cx="2080260" cy="27432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새로 알게 된 혜택</a:t>
            </a:r>
          </a:p>
        </p:txBody>
      </p:sp>
      <p:sp>
        <p:nvSpPr>
          <p:cNvPr id="11" name="TextBox 10"/>
          <p:cNvSpPr txBox="1"/>
          <p:nvPr/>
        </p:nvSpPr>
        <p:spPr>
          <a:xfrm>
            <a:off x="3643884" y="2542032"/>
            <a:ext cx="2080260" cy="685800"/>
          </a:xfrm>
          <a:prstGeom prst="rect">
            <a:avLst/>
          </a:prstGeom>
          <a:noFill/>
        </p:spPr>
        <p:txBody>
          <a:bodyPr wrap="square" lIns="0" tIns="0" rIns="0" bIns="0" anchor="t">
            <a:noAutofit/>
          </a:bodyPr>
          <a:lstStyle/>
          <a:p>
            <a:pPr algn="l">
              <a:spcAft>
                <a:spcPts val="0"/>
              </a:spcAft>
            </a:pPr>
            <a:r>
              <a:rPr lang="ko-KR" sz="4000" b="0" spc="-60">
                <a:solidFill>
                  <a:srgbClr val="A39E98"/>
                </a:solidFill>
                <a:latin typeface="Paperlogy 8 ExtraBold"/>
                <a:ea typeface="Paperlogy 8 ExtraBold"/>
                <a:cs typeface="Paperlogy 8 ExtraBold"/>
              </a:rPr>
              <a:t>—</a:t>
            </a:r>
          </a:p>
        </p:txBody>
      </p:sp>
      <p:sp>
        <p:nvSpPr>
          <p:cNvPr id="12" name="TextBox 11"/>
          <p:cNvSpPr txBox="1"/>
          <p:nvPr/>
        </p:nvSpPr>
        <p:spPr>
          <a:xfrm>
            <a:off x="3643884" y="3310128"/>
            <a:ext cx="20802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목표 1인당 2개 이상</a:t>
            </a:r>
          </a:p>
        </p:txBody>
      </p:sp>
      <p:sp>
        <p:nvSpPr>
          <p:cNvPr id="13" name="Rounded Rectangle 12"/>
          <p:cNvSpPr/>
          <p:nvPr/>
        </p:nvSpPr>
        <p:spPr>
          <a:xfrm>
            <a:off x="6190488" y="2011680"/>
            <a:ext cx="2628900" cy="1737360"/>
          </a:xfrm>
          <a:prstGeom prst="roundRect">
            <a:avLst>
              <a:gd name="adj" fmla="val 894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2212848"/>
            <a:ext cx="2080260" cy="27432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재사용 의향</a:t>
            </a:r>
          </a:p>
        </p:txBody>
      </p:sp>
      <p:sp>
        <p:nvSpPr>
          <p:cNvPr id="15" name="TextBox 14"/>
          <p:cNvSpPr txBox="1"/>
          <p:nvPr/>
        </p:nvSpPr>
        <p:spPr>
          <a:xfrm>
            <a:off x="6464807" y="2542032"/>
            <a:ext cx="2080260" cy="685800"/>
          </a:xfrm>
          <a:prstGeom prst="rect">
            <a:avLst/>
          </a:prstGeom>
          <a:noFill/>
        </p:spPr>
        <p:txBody>
          <a:bodyPr wrap="square" lIns="0" tIns="0" rIns="0" bIns="0" anchor="t">
            <a:noAutofit/>
          </a:bodyPr>
          <a:lstStyle/>
          <a:p>
            <a:pPr algn="l">
              <a:spcAft>
                <a:spcPts val="0"/>
              </a:spcAft>
            </a:pPr>
            <a:r>
              <a:rPr lang="ko-KR" sz="4000" b="0" spc="-60">
                <a:solidFill>
                  <a:srgbClr val="A39E98"/>
                </a:solidFill>
                <a:latin typeface="Paperlogy 8 ExtraBold"/>
                <a:ea typeface="Paperlogy 8 ExtraBold"/>
                <a:cs typeface="Paperlogy 8 ExtraBold"/>
              </a:rPr>
              <a:t>—</a:t>
            </a:r>
          </a:p>
        </p:txBody>
      </p:sp>
      <p:sp>
        <p:nvSpPr>
          <p:cNvPr id="16" name="TextBox 15"/>
          <p:cNvSpPr txBox="1"/>
          <p:nvPr/>
        </p:nvSpPr>
        <p:spPr>
          <a:xfrm>
            <a:off x="6464807" y="3310128"/>
            <a:ext cx="20802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목표 60% 이상</a:t>
            </a:r>
          </a:p>
        </p:txBody>
      </p:sp>
      <p:sp>
        <p:nvSpPr>
          <p:cNvPr id="17" name="Rounded Rectangle 16"/>
          <p:cNvSpPr/>
          <p:nvPr/>
        </p:nvSpPr>
        <p:spPr>
          <a:xfrm>
            <a:off x="9011411" y="2011680"/>
            <a:ext cx="2628900" cy="1737360"/>
          </a:xfrm>
          <a:prstGeom prst="roundRect">
            <a:avLst>
              <a:gd name="adj" fmla="val 8947"/>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5732" y="2212848"/>
            <a:ext cx="2080260" cy="274320"/>
          </a:xfrm>
          <a:prstGeom prst="rect">
            <a:avLst/>
          </a:prstGeom>
          <a:noFill/>
        </p:spPr>
        <p:txBody>
          <a:bodyPr wrap="square" lIns="0" tIns="0" rIns="0" bIns="0" anchor="t">
            <a:noAutofit/>
          </a:bodyPr>
          <a:lstStyle/>
          <a:p>
            <a:pPr algn="l">
              <a:spcAft>
                <a:spcPts val="0"/>
              </a:spcAft>
            </a:pPr>
            <a:r>
              <a:rPr lang="ko-KR" sz="1600" b="0">
                <a:solidFill>
                  <a:srgbClr val="111111"/>
                </a:solidFill>
                <a:latin typeface="Paperlogy 6 SemiBold"/>
                <a:ea typeface="Paperlogy 6 SemiBold"/>
                <a:cs typeface="Paperlogy 6 SemiBold"/>
              </a:rPr>
              <a:t>과제 성공률</a:t>
            </a:r>
          </a:p>
        </p:txBody>
      </p:sp>
      <p:sp>
        <p:nvSpPr>
          <p:cNvPr id="19" name="TextBox 18"/>
          <p:cNvSpPr txBox="1"/>
          <p:nvPr/>
        </p:nvSpPr>
        <p:spPr>
          <a:xfrm>
            <a:off x="9285732" y="2542032"/>
            <a:ext cx="2080260" cy="685800"/>
          </a:xfrm>
          <a:prstGeom prst="rect">
            <a:avLst/>
          </a:prstGeom>
          <a:noFill/>
        </p:spPr>
        <p:txBody>
          <a:bodyPr wrap="square" lIns="0" tIns="0" rIns="0" bIns="0" anchor="t">
            <a:noAutofit/>
          </a:bodyPr>
          <a:lstStyle/>
          <a:p>
            <a:pPr algn="l">
              <a:spcAft>
                <a:spcPts val="0"/>
              </a:spcAft>
            </a:pPr>
            <a:r>
              <a:rPr lang="ko-KR" sz="4000" b="0" spc="-60">
                <a:solidFill>
                  <a:srgbClr val="A39E98"/>
                </a:solidFill>
                <a:latin typeface="Paperlogy 8 ExtraBold"/>
                <a:ea typeface="Paperlogy 8 ExtraBold"/>
                <a:cs typeface="Paperlogy 8 ExtraBold"/>
              </a:rPr>
              <a:t>—</a:t>
            </a:r>
          </a:p>
        </p:txBody>
      </p:sp>
      <p:sp>
        <p:nvSpPr>
          <p:cNvPr id="20" name="TextBox 19"/>
          <p:cNvSpPr txBox="1"/>
          <p:nvPr/>
        </p:nvSpPr>
        <p:spPr>
          <a:xfrm>
            <a:off x="9285732" y="3310128"/>
            <a:ext cx="2080260" cy="274320"/>
          </a:xfrm>
          <a:prstGeom prst="rect">
            <a:avLst/>
          </a:prstGeom>
          <a:noFill/>
        </p:spPr>
        <p:txBody>
          <a:bodyPr wrap="square" lIns="0" tIns="0" rIns="0" bIns="0" anchor="t">
            <a:noAutofit/>
          </a:bodyPr>
          <a:lstStyle/>
          <a:p>
            <a:pPr algn="l">
              <a:spcAft>
                <a:spcPts val="0"/>
              </a:spcAft>
            </a:pPr>
            <a:r>
              <a:rPr lang="ko-KR" sz="1150" b="0">
                <a:solidFill>
                  <a:srgbClr val="615D59"/>
                </a:solidFill>
                <a:latin typeface="Paperlogy 4 Regular"/>
                <a:ea typeface="Paperlogy 4 Regular"/>
                <a:cs typeface="Paperlogy 4 Regular"/>
              </a:rPr>
              <a:t>목표 80% 이상</a:t>
            </a:r>
          </a:p>
        </p:txBody>
      </p:sp>
      <p:sp>
        <p:nvSpPr>
          <p:cNvPr id="21" name="Rounded Rectangle 20"/>
          <p:cNvSpPr/>
          <p:nvPr/>
        </p:nvSpPr>
        <p:spPr>
          <a:xfrm>
            <a:off x="548640" y="3977639"/>
            <a:ext cx="11091672" cy="2103120"/>
          </a:xfrm>
          <a:prstGeom prst="roundRect">
            <a:avLst>
              <a:gd name="adj" fmla="val 7391"/>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160520"/>
            <a:ext cx="4572000" cy="365760"/>
          </a:xfrm>
          <a:prstGeom prst="rect">
            <a:avLst/>
          </a:prstGeom>
          <a:noFill/>
        </p:spPr>
        <p:txBody>
          <a:bodyPr wrap="square" lIns="0" tIns="0" rIns="0" bIns="0" anchor="t">
            <a:noAutofit/>
          </a:bodyPr>
          <a:lstStyle/>
          <a:p>
            <a:pPr algn="l">
              <a:spcAft>
                <a:spcPts val="0"/>
              </a:spcAft>
            </a:pPr>
            <a:r>
              <a:rPr lang="ko-KR" sz="1900" b="0" spc="-20">
                <a:solidFill>
                  <a:srgbClr val="111111"/>
                </a:solidFill>
                <a:latin typeface="Paperlogy 7 Bold"/>
                <a:ea typeface="Paperlogy 7 Bold"/>
                <a:cs typeface="Paperlogy 7 Bold"/>
              </a:rPr>
              <a:t>주요 피드백과 개선 (Before → After)</a:t>
            </a:r>
          </a:p>
        </p:txBody>
      </p:sp>
      <p:sp>
        <p:nvSpPr>
          <p:cNvPr id="23" name="TextBox 22"/>
          <p:cNvSpPr txBox="1"/>
          <p:nvPr/>
        </p:nvSpPr>
        <p:spPr>
          <a:xfrm>
            <a:off x="868680" y="4617720"/>
            <a:ext cx="3931920" cy="274320"/>
          </a:xfrm>
          <a:prstGeom prst="rect">
            <a:avLst/>
          </a:prstGeom>
          <a:noFill/>
        </p:spPr>
        <p:txBody>
          <a:bodyPr wrap="square" lIns="0" tIns="0" rIns="0" bIns="0" anchor="t">
            <a:noAutofit/>
          </a:bodyPr>
          <a:lstStyle/>
          <a:p>
            <a:pPr algn="l">
              <a:spcAft>
                <a:spcPts val="0"/>
              </a:spcAft>
            </a:pPr>
            <a:r>
              <a:rPr lang="ko-KR" sz="1200" b="0">
                <a:solidFill>
                  <a:srgbClr val="615D59"/>
                </a:solidFill>
                <a:latin typeface="Paperlogy 6 SemiBold"/>
                <a:ea typeface="Paperlogy 6 SemiBold"/>
                <a:cs typeface="Paperlogy 6 SemiBold"/>
              </a:rPr>
              <a:t>피드백 (익명 인용)</a:t>
            </a:r>
          </a:p>
        </p:txBody>
      </p:sp>
      <p:sp>
        <p:nvSpPr>
          <p:cNvPr id="24" name="TextBox 23"/>
          <p:cNvSpPr txBox="1"/>
          <p:nvPr/>
        </p:nvSpPr>
        <p:spPr>
          <a:xfrm>
            <a:off x="4937759" y="4617720"/>
            <a:ext cx="2926080" cy="274320"/>
          </a:xfrm>
          <a:prstGeom prst="rect">
            <a:avLst/>
          </a:prstGeom>
          <a:noFill/>
        </p:spPr>
        <p:txBody>
          <a:bodyPr wrap="square" lIns="0" tIns="0" rIns="0" bIns="0" anchor="t">
            <a:noAutofit/>
          </a:bodyPr>
          <a:lstStyle/>
          <a:p>
            <a:pPr algn="l">
              <a:spcAft>
                <a:spcPts val="0"/>
              </a:spcAft>
            </a:pPr>
            <a:r>
              <a:rPr lang="ko-KR" sz="1200" b="0">
                <a:solidFill>
                  <a:srgbClr val="615D59"/>
                </a:solidFill>
                <a:latin typeface="Paperlogy 6 SemiBold"/>
                <a:ea typeface="Paperlogy 6 SemiBold"/>
                <a:cs typeface="Paperlogy 6 SemiBold"/>
              </a:rPr>
              <a:t>조치</a:t>
            </a:r>
          </a:p>
        </p:txBody>
      </p:sp>
      <p:sp>
        <p:nvSpPr>
          <p:cNvPr id="25" name="TextBox 24"/>
          <p:cNvSpPr txBox="1"/>
          <p:nvPr/>
        </p:nvSpPr>
        <p:spPr>
          <a:xfrm>
            <a:off x="8001000" y="4617720"/>
            <a:ext cx="3291840" cy="274320"/>
          </a:xfrm>
          <a:prstGeom prst="rect">
            <a:avLst/>
          </a:prstGeom>
          <a:noFill/>
        </p:spPr>
        <p:txBody>
          <a:bodyPr wrap="square" lIns="0" tIns="0" rIns="0" bIns="0" anchor="t">
            <a:noAutofit/>
          </a:bodyPr>
          <a:lstStyle/>
          <a:p>
            <a:pPr algn="l">
              <a:spcAft>
                <a:spcPts val="0"/>
              </a:spcAft>
            </a:pPr>
            <a:r>
              <a:rPr lang="ko-KR" sz="1200" b="0">
                <a:solidFill>
                  <a:srgbClr val="615D59"/>
                </a:solidFill>
                <a:latin typeface="Paperlogy 6 SemiBold"/>
                <a:ea typeface="Paperlogy 6 SemiBold"/>
                <a:cs typeface="Paperlogy 6 SemiBold"/>
              </a:rPr>
              <a:t>Before → After</a:t>
            </a:r>
          </a:p>
        </p:txBody>
      </p:sp>
      <p:sp>
        <p:nvSpPr>
          <p:cNvPr id="26" name="Rectangle 25"/>
          <p:cNvSpPr/>
          <p:nvPr/>
        </p:nvSpPr>
        <p:spPr>
          <a:xfrm>
            <a:off x="868680" y="4937760"/>
            <a:ext cx="1045159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4983480"/>
            <a:ext cx="393192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28" name="TextBox 27"/>
          <p:cNvSpPr txBox="1"/>
          <p:nvPr/>
        </p:nvSpPr>
        <p:spPr>
          <a:xfrm>
            <a:off x="4937759" y="4983480"/>
            <a:ext cx="292608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29" name="TextBox 28"/>
          <p:cNvSpPr txBox="1"/>
          <p:nvPr/>
        </p:nvSpPr>
        <p:spPr>
          <a:xfrm>
            <a:off x="8001000" y="4983480"/>
            <a:ext cx="329184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0" name="Rectangle 29"/>
          <p:cNvSpPr/>
          <p:nvPr/>
        </p:nvSpPr>
        <p:spPr>
          <a:xfrm>
            <a:off x="868680" y="5285232"/>
            <a:ext cx="1045159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5330952"/>
            <a:ext cx="393192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2" name="TextBox 31"/>
          <p:cNvSpPr txBox="1"/>
          <p:nvPr/>
        </p:nvSpPr>
        <p:spPr>
          <a:xfrm>
            <a:off x="4937759" y="5330952"/>
            <a:ext cx="292608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3" name="TextBox 32"/>
          <p:cNvSpPr txBox="1"/>
          <p:nvPr/>
        </p:nvSpPr>
        <p:spPr>
          <a:xfrm>
            <a:off x="8001000" y="5330952"/>
            <a:ext cx="329184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4" name="Rectangle 33"/>
          <p:cNvSpPr/>
          <p:nvPr/>
        </p:nvSpPr>
        <p:spPr>
          <a:xfrm>
            <a:off x="868680" y="5632704"/>
            <a:ext cx="10451592" cy="91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680" y="5678424"/>
            <a:ext cx="393192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6" name="TextBox 35"/>
          <p:cNvSpPr txBox="1"/>
          <p:nvPr/>
        </p:nvSpPr>
        <p:spPr>
          <a:xfrm>
            <a:off x="4937759" y="5678424"/>
            <a:ext cx="292608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7" name="TextBox 36"/>
          <p:cNvSpPr txBox="1"/>
          <p:nvPr/>
        </p:nvSpPr>
        <p:spPr>
          <a:xfrm>
            <a:off x="8001000" y="5678424"/>
            <a:ext cx="3291840" cy="274320"/>
          </a:xfrm>
          <a:prstGeom prst="rect">
            <a:avLst/>
          </a:prstGeom>
          <a:noFill/>
        </p:spPr>
        <p:txBody>
          <a:bodyPr wrap="square" lIns="0" tIns="0" rIns="0" bIns="0" anchor="t">
            <a:noAutofit/>
          </a:bodyPr>
          <a:lstStyle/>
          <a:p>
            <a:pPr algn="l">
              <a:spcAft>
                <a:spcPts val="0"/>
              </a:spcAft>
            </a:pPr>
            <a:r>
              <a:rPr lang="ko-KR" sz="1300" b="0">
                <a:solidFill>
                  <a:srgbClr val="A39E98"/>
                </a:solidFill>
                <a:latin typeface="Paperlogy 4 Regular"/>
                <a:ea typeface="Paperlogy 4 Regular"/>
                <a:cs typeface="Paperlogy 4 Regular"/>
              </a:rPr>
              <a:t>[테스트 후 입력]</a:t>
            </a:r>
          </a:p>
        </p:txBody>
      </p:sp>
      <p:sp>
        <p:nvSpPr>
          <p:cNvPr id="38" name="TextBox 37"/>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검증</a:t>
            </a:r>
          </a:p>
        </p:txBody>
      </p:sp>
      <p:sp>
        <p:nvSpPr>
          <p:cNvPr id="39" name="TextBox 38"/>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5F4"/>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1243584" cy="292608"/>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07  기대효과</a:t>
            </a:r>
          </a:p>
        </p:txBody>
      </p:sp>
      <p:sp>
        <p:nvSpPr>
          <p:cNvPr id="3" name="TextBox 2"/>
          <p:cNvSpPr txBox="1"/>
          <p:nvPr/>
        </p:nvSpPr>
        <p:spPr>
          <a:xfrm>
            <a:off x="548640" y="786384"/>
            <a:ext cx="11091672" cy="566928"/>
          </a:xfrm>
          <a:prstGeom prst="rect">
            <a:avLst/>
          </a:prstGeom>
          <a:noFill/>
        </p:spPr>
        <p:txBody>
          <a:bodyPr wrap="square" lIns="0" tIns="0" rIns="0" bIns="0" anchor="t">
            <a:noAutofit/>
          </a:bodyPr>
          <a:lstStyle/>
          <a:p>
            <a:pPr algn="l">
              <a:spcAft>
                <a:spcPts val="0"/>
              </a:spcAft>
            </a:pPr>
            <a:r>
              <a:rPr lang="ko-KR" sz="3800" b="0" spc="-60">
                <a:solidFill>
                  <a:srgbClr val="111111"/>
                </a:solidFill>
                <a:latin typeface="Paperlogy 7 Bold"/>
                <a:ea typeface="Paperlogy 7 Bold"/>
                <a:cs typeface="Paperlogy 7 Bold"/>
              </a:rPr>
              <a:t>개인의 첫 칸에서 정책의 실효성까지</a:t>
            </a:r>
          </a:p>
        </p:txBody>
      </p:sp>
      <p:sp>
        <p:nvSpPr>
          <p:cNvPr id="4" name="TextBox 3"/>
          <p:cNvSpPr txBox="1"/>
          <p:nvPr/>
        </p:nvSpPr>
        <p:spPr>
          <a:xfrm>
            <a:off x="548640" y="1389888"/>
            <a:ext cx="11091672" cy="329184"/>
          </a:xfrm>
          <a:prstGeom prst="rect">
            <a:avLst/>
          </a:prstGeom>
          <a:noFill/>
        </p:spPr>
        <p:txBody>
          <a:bodyPr wrap="square" lIns="0" tIns="0" rIns="0" bIns="0" anchor="t">
            <a:noAutofit/>
          </a:bodyPr>
          <a:lstStyle/>
          <a:p>
            <a:pPr algn="l">
              <a:spcAft>
                <a:spcPts val="0"/>
              </a:spcAft>
            </a:pPr>
            <a:r>
              <a:rPr lang="ko-KR" sz="1600" b="0">
                <a:solidFill>
                  <a:srgbClr val="31302E"/>
                </a:solidFill>
                <a:latin typeface="Paperlogy 4 Regular"/>
                <a:ea typeface="Paperlogy 4 Regular"/>
                <a:cs typeface="Paperlogy 4 Regular"/>
              </a:rPr>
              <a:t>기대효과와 발전 방향</a:t>
            </a:r>
          </a:p>
        </p:txBody>
      </p:sp>
      <p:sp>
        <p:nvSpPr>
          <p:cNvPr id="5" name="Rounded Rectangle 4"/>
          <p:cNvSpPr/>
          <p:nvPr/>
        </p:nvSpPr>
        <p:spPr>
          <a:xfrm>
            <a:off x="548640" y="2011680"/>
            <a:ext cx="3566160" cy="3017520"/>
          </a:xfrm>
          <a:prstGeom prst="roundRect">
            <a:avLst>
              <a:gd name="adj" fmla="val 515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2304288"/>
            <a:ext cx="274320" cy="274320"/>
          </a:xfrm>
          <a:prstGeom prst="ellipse">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2249424"/>
            <a:ext cx="25603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개인</a:t>
            </a:r>
          </a:p>
        </p:txBody>
      </p:sp>
      <p:sp>
        <p:nvSpPr>
          <p:cNvPr id="8" name="Oval 7"/>
          <p:cNvSpPr/>
          <p:nvPr/>
        </p:nvSpPr>
        <p:spPr>
          <a:xfrm>
            <a:off x="914400" y="2944368"/>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2852928"/>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첫 월급부터 '무엇을 먼저' 할지 분명한 실행 계획</a:t>
            </a:r>
          </a:p>
        </p:txBody>
      </p:sp>
      <p:sp>
        <p:nvSpPr>
          <p:cNvPr id="10" name="Oval 9"/>
          <p:cNvSpPr/>
          <p:nvPr/>
        </p:nvSpPr>
        <p:spPr>
          <a:xfrm>
            <a:off x="914400" y="3621024"/>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3529584"/>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놓치던 청년 혜택과 예상 수혜액 발견</a:t>
            </a:r>
          </a:p>
        </p:txBody>
      </p:sp>
      <p:sp>
        <p:nvSpPr>
          <p:cNvPr id="12" name="Oval 11"/>
          <p:cNvSpPr/>
          <p:nvPr/>
        </p:nvSpPr>
        <p:spPr>
          <a:xfrm>
            <a:off x="914400" y="4297679"/>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4206240"/>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주간 코칭으로 적금 중도해지 예방</a:t>
            </a:r>
          </a:p>
        </p:txBody>
      </p:sp>
      <p:sp>
        <p:nvSpPr>
          <p:cNvPr id="14" name="Rounded Rectangle 13"/>
          <p:cNvSpPr/>
          <p:nvPr/>
        </p:nvSpPr>
        <p:spPr>
          <a:xfrm>
            <a:off x="4311396" y="2011680"/>
            <a:ext cx="3566160" cy="3017520"/>
          </a:xfrm>
          <a:prstGeom prst="roundRect">
            <a:avLst>
              <a:gd name="adj" fmla="val 515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31436" y="2304288"/>
            <a:ext cx="274320" cy="274320"/>
          </a:xfrm>
          <a:prstGeom prst="ellipse">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42916" y="2249424"/>
            <a:ext cx="25603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사회</a:t>
            </a:r>
          </a:p>
        </p:txBody>
      </p:sp>
      <p:sp>
        <p:nvSpPr>
          <p:cNvPr id="17" name="Oval 16"/>
          <p:cNvSpPr/>
          <p:nvPr/>
        </p:nvSpPr>
        <p:spPr>
          <a:xfrm>
            <a:off x="4677156" y="2944368"/>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05756" y="2852928"/>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정보 격차가 자산 격차로 이어지는 고리 완화</a:t>
            </a:r>
          </a:p>
        </p:txBody>
      </p:sp>
      <p:sp>
        <p:nvSpPr>
          <p:cNvPr id="19" name="Oval 18"/>
          <p:cNvSpPr/>
          <p:nvPr/>
        </p:nvSpPr>
        <p:spPr>
          <a:xfrm>
            <a:off x="4677156" y="3621024"/>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05756" y="3529584"/>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청년 자산형성 정책의 '가입 → 유지' 실효성 제고</a:t>
            </a:r>
          </a:p>
        </p:txBody>
      </p:sp>
      <p:sp>
        <p:nvSpPr>
          <p:cNvPr id="21" name="Oval 20"/>
          <p:cNvSpPr/>
          <p:nvPr/>
        </p:nvSpPr>
        <p:spPr>
          <a:xfrm>
            <a:off x="4677156" y="4297679"/>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05756" y="4206240"/>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20대 재무목표·점검 역량 향상</a:t>
            </a:r>
          </a:p>
        </p:txBody>
      </p:sp>
      <p:sp>
        <p:nvSpPr>
          <p:cNvPr id="23" name="Rounded Rectangle 22"/>
          <p:cNvSpPr/>
          <p:nvPr/>
        </p:nvSpPr>
        <p:spPr>
          <a:xfrm>
            <a:off x="8074152" y="2011680"/>
            <a:ext cx="3566160" cy="3017520"/>
          </a:xfrm>
          <a:prstGeom prst="roundRect">
            <a:avLst>
              <a:gd name="adj" fmla="val 5151"/>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394192" y="2304288"/>
            <a:ext cx="274320" cy="274320"/>
          </a:xfrm>
          <a:prstGeom prst="ellipse">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05672" y="2249424"/>
            <a:ext cx="2560320" cy="384048"/>
          </a:xfrm>
          <a:prstGeom prst="rect">
            <a:avLst/>
          </a:prstGeom>
          <a:noFill/>
        </p:spPr>
        <p:txBody>
          <a:bodyPr wrap="square" lIns="0" tIns="0" rIns="0" bIns="0" anchor="t">
            <a:noAutofit/>
          </a:bodyPr>
          <a:lstStyle/>
          <a:p>
            <a:pPr algn="l">
              <a:spcAft>
                <a:spcPts val="0"/>
              </a:spcAft>
            </a:pPr>
            <a:r>
              <a:rPr lang="ko-KR" sz="2400" b="0" spc="-40">
                <a:solidFill>
                  <a:srgbClr val="111111"/>
                </a:solidFill>
                <a:latin typeface="Paperlogy 7 Bold"/>
                <a:ea typeface="Paperlogy 7 Bold"/>
                <a:cs typeface="Paperlogy 7 Bold"/>
              </a:rPr>
              <a:t>비즈니스</a:t>
            </a:r>
          </a:p>
        </p:txBody>
      </p:sp>
      <p:sp>
        <p:nvSpPr>
          <p:cNvPr id="26" name="Oval 25"/>
          <p:cNvSpPr/>
          <p:nvPr/>
        </p:nvSpPr>
        <p:spPr>
          <a:xfrm>
            <a:off x="8439912" y="2944368"/>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68512" y="2852928"/>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B2G·B2B: 청년센터·대학·기업에 재무코칭 도구 공급</a:t>
            </a:r>
          </a:p>
        </p:txBody>
      </p:sp>
      <p:sp>
        <p:nvSpPr>
          <p:cNvPr id="28" name="Oval 27"/>
          <p:cNvSpPr/>
          <p:nvPr/>
        </p:nvSpPr>
        <p:spPr>
          <a:xfrm>
            <a:off x="8439912" y="3621024"/>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68512" y="3529584"/>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B2C: 기본 무료 + 심화 리포트 구독</a:t>
            </a:r>
          </a:p>
        </p:txBody>
      </p:sp>
      <p:sp>
        <p:nvSpPr>
          <p:cNvPr id="30" name="Oval 29"/>
          <p:cNvSpPr/>
          <p:nvPr/>
        </p:nvSpPr>
        <p:spPr>
          <a:xfrm>
            <a:off x="8439912" y="4297679"/>
            <a:ext cx="100584" cy="100584"/>
          </a:xfrm>
          <a:prstGeom prst="ellipse">
            <a:avLst/>
          </a:prstGeom>
          <a:solidFill>
            <a:srgbClr val="A39E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68512" y="4206240"/>
            <a:ext cx="2697480" cy="640080"/>
          </a:xfrm>
          <a:prstGeom prst="rect">
            <a:avLst/>
          </a:prstGeom>
          <a:noFill/>
        </p:spPr>
        <p:txBody>
          <a:bodyPr wrap="square" lIns="0" tIns="0" rIns="0" bIns="0" anchor="t">
            <a:noAutofit/>
          </a:bodyPr>
          <a:lstStyle/>
          <a:p>
            <a:pPr algn="l">
              <a:lnSpc>
                <a:spcPct val="120000"/>
              </a:lnSpc>
              <a:spcAft>
                <a:spcPts val="0"/>
              </a:spcAft>
            </a:pPr>
            <a:r>
              <a:rPr lang="ko-KR" sz="1300" b="0">
                <a:solidFill>
                  <a:srgbClr val="111111"/>
                </a:solidFill>
                <a:latin typeface="Paperlogy 4 Regular"/>
                <a:ea typeface="Paperlogy 4 Regular"/>
                <a:cs typeface="Paperlogy 4 Regular"/>
              </a:rPr>
              <a:t>상품 판매·중개는 하지 않음 (중립성·규제)</a:t>
            </a:r>
          </a:p>
        </p:txBody>
      </p:sp>
      <p:sp>
        <p:nvSpPr>
          <p:cNvPr id="32" name="Rounded Rectangle 31"/>
          <p:cNvSpPr/>
          <p:nvPr/>
        </p:nvSpPr>
        <p:spPr>
          <a:xfrm>
            <a:off x="548640" y="5230368"/>
            <a:ext cx="11091672" cy="850392"/>
          </a:xfrm>
          <a:prstGeom prst="roundRect">
            <a:avLst>
              <a:gd name="adj" fmla="val 18279"/>
            </a:avLst>
          </a:prstGeom>
          <a:solidFill>
            <a:srgbClr val="FFFFFF"/>
          </a:solidFill>
          <a:ln w="9525">
            <a:solidFill>
              <a:srgbClr val="E6E6E6"/>
            </a:solid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68680" y="5486400"/>
            <a:ext cx="597408" cy="329184"/>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지금</a:t>
            </a:r>
          </a:p>
        </p:txBody>
      </p:sp>
      <p:sp>
        <p:nvSpPr>
          <p:cNvPr id="34" name="TextBox 33"/>
          <p:cNvSpPr txBox="1"/>
          <p:nvPr/>
        </p:nvSpPr>
        <p:spPr>
          <a:xfrm>
            <a:off x="1600200" y="5468112"/>
            <a:ext cx="2926080" cy="365760"/>
          </a:xfrm>
          <a:prstGeom prst="rect">
            <a:avLst/>
          </a:prstGeom>
          <a:noFill/>
        </p:spPr>
        <p:txBody>
          <a:bodyPr wrap="square" lIns="0" tIns="0" rIns="0" bIns="0" anchor="ctr">
            <a:noAutofit/>
          </a:bodyPr>
          <a:lstStyle/>
          <a:p>
            <a:pPr algn="l">
              <a:spcAft>
                <a:spcPts val="0"/>
              </a:spcAft>
            </a:pPr>
            <a:r>
              <a:rPr lang="ko-KR" sz="1600" b="0">
                <a:solidFill>
                  <a:srgbClr val="111111"/>
                </a:solidFill>
                <a:latin typeface="Paperlogy 6 SemiBold"/>
                <a:ea typeface="Paperlogy 6 SemiBold"/>
                <a:cs typeface="Paperlogy 6 SemiBold"/>
              </a:rPr>
              <a:t>MVP · 사용자 테스트</a:t>
            </a:r>
          </a:p>
        </p:txBody>
      </p:sp>
      <p:cxnSp>
        <p:nvCxnSpPr>
          <p:cNvPr id="35" name="Connector 34"/>
          <p:cNvCxnSpPr/>
          <p:nvPr/>
        </p:nvCxnSpPr>
        <p:spPr>
          <a:xfrm>
            <a:off x="3931920" y="5650992"/>
            <a:ext cx="365760"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480560" y="5486400"/>
            <a:ext cx="597408" cy="329184"/>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다음</a:t>
            </a:r>
          </a:p>
        </p:txBody>
      </p:sp>
      <p:sp>
        <p:nvSpPr>
          <p:cNvPr id="37" name="TextBox 36"/>
          <p:cNvSpPr txBox="1"/>
          <p:nvPr/>
        </p:nvSpPr>
        <p:spPr>
          <a:xfrm>
            <a:off x="5212080" y="5468112"/>
            <a:ext cx="2926080" cy="365760"/>
          </a:xfrm>
          <a:prstGeom prst="rect">
            <a:avLst/>
          </a:prstGeom>
          <a:noFill/>
        </p:spPr>
        <p:txBody>
          <a:bodyPr wrap="square" lIns="0" tIns="0" rIns="0" bIns="0" anchor="ctr">
            <a:noAutofit/>
          </a:bodyPr>
          <a:lstStyle/>
          <a:p>
            <a:pPr algn="l">
              <a:spcAft>
                <a:spcPts val="0"/>
              </a:spcAft>
            </a:pPr>
            <a:r>
              <a:rPr lang="ko-KR" sz="1600" b="0">
                <a:solidFill>
                  <a:srgbClr val="111111"/>
                </a:solidFill>
                <a:latin typeface="Paperlogy 6 SemiBold"/>
                <a:ea typeface="Paperlogy 6 SemiBold"/>
                <a:cs typeface="Paperlogy 6 SemiBold"/>
              </a:rPr>
              <a:t>청년센터·대학 파일럿</a:t>
            </a:r>
          </a:p>
        </p:txBody>
      </p:sp>
      <p:cxnSp>
        <p:nvCxnSpPr>
          <p:cNvPr id="38" name="Connector 37"/>
          <p:cNvCxnSpPr/>
          <p:nvPr/>
        </p:nvCxnSpPr>
        <p:spPr>
          <a:xfrm>
            <a:off x="7543800" y="5650992"/>
            <a:ext cx="365760" cy="0"/>
          </a:xfrm>
          <a:prstGeom prst="line">
            <a:avLst/>
          </a:prstGeom>
          <a:ln w="15875">
            <a:solidFill>
              <a:srgbClr val="A3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092440" y="5486400"/>
            <a:ext cx="597408" cy="329184"/>
          </a:xfrm>
          <a:prstGeom prst="roundRect">
            <a:avLst>
              <a:gd name="adj" fmla="val 50000"/>
            </a:avLst>
          </a:prstGeom>
          <a:solidFill>
            <a:srgbClr val="FFFFFF"/>
          </a:solid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lang="ko-KR" sz="1200" b="0" spc="10">
                <a:solidFill>
                  <a:srgbClr val="0075DE"/>
                </a:solidFill>
                <a:latin typeface="Paperlogy 6 SemiBold"/>
                <a:ea typeface="Paperlogy 6 SemiBold"/>
                <a:cs typeface="Paperlogy 6 SemiBold"/>
              </a:rPr>
              <a:t>확장</a:t>
            </a:r>
          </a:p>
        </p:txBody>
      </p:sp>
      <p:sp>
        <p:nvSpPr>
          <p:cNvPr id="40" name="TextBox 39"/>
          <p:cNvSpPr txBox="1"/>
          <p:nvPr/>
        </p:nvSpPr>
        <p:spPr>
          <a:xfrm>
            <a:off x="8823960" y="5468112"/>
            <a:ext cx="2926080" cy="365760"/>
          </a:xfrm>
          <a:prstGeom prst="rect">
            <a:avLst/>
          </a:prstGeom>
          <a:noFill/>
        </p:spPr>
        <p:txBody>
          <a:bodyPr wrap="square" lIns="0" tIns="0" rIns="0" bIns="0" anchor="ctr">
            <a:noAutofit/>
          </a:bodyPr>
          <a:lstStyle/>
          <a:p>
            <a:pPr algn="l">
              <a:spcAft>
                <a:spcPts val="0"/>
              </a:spcAft>
            </a:pPr>
            <a:r>
              <a:rPr lang="ko-KR" sz="1600" b="0">
                <a:solidFill>
                  <a:srgbClr val="111111"/>
                </a:solidFill>
                <a:latin typeface="Paperlogy 6 SemiBold"/>
                <a:ea typeface="Paperlogy 6 SemiBold"/>
                <a:cs typeface="Paperlogy 6 SemiBold"/>
              </a:rPr>
              <a:t>마이데이터 제휴·대상 확대</a:t>
            </a:r>
          </a:p>
        </p:txBody>
      </p:sp>
      <p:sp>
        <p:nvSpPr>
          <p:cNvPr id="41" name="TextBox 40"/>
          <p:cNvSpPr txBox="1"/>
          <p:nvPr/>
        </p:nvSpPr>
        <p:spPr>
          <a:xfrm>
            <a:off x="548640" y="6400800"/>
            <a:ext cx="7315200" cy="228600"/>
          </a:xfrm>
          <a:prstGeom prst="rect">
            <a:avLst/>
          </a:prstGeom>
          <a:noFill/>
        </p:spPr>
        <p:txBody>
          <a:bodyPr wrap="square" lIns="0" tIns="0" rIns="0" bIns="0" anchor="t">
            <a:noAutofit/>
          </a:bodyPr>
          <a:lstStyle/>
          <a:p>
            <a:pPr algn="l">
              <a:spcAft>
                <a:spcPts val="0"/>
              </a:spcAft>
            </a:pPr>
            <a:r>
              <a:rPr lang="ko-KR" sz="1150" b="0">
                <a:solidFill>
                  <a:srgbClr val="A39E98"/>
                </a:solidFill>
                <a:latin typeface="Paperlogy 4 Regular"/>
                <a:ea typeface="Paperlogy 4 Regular"/>
                <a:cs typeface="Paperlogy 4 Regular"/>
              </a:rPr>
              <a:t>사다리  ·  기대효과</a:t>
            </a:r>
          </a:p>
        </p:txBody>
      </p:sp>
      <p:sp>
        <p:nvSpPr>
          <p:cNvPr id="42" name="TextBox 41"/>
          <p:cNvSpPr txBox="1"/>
          <p:nvPr/>
        </p:nvSpPr>
        <p:spPr>
          <a:xfrm>
            <a:off x="10725912" y="6400800"/>
            <a:ext cx="914400" cy="228600"/>
          </a:xfrm>
          <a:prstGeom prst="rect">
            <a:avLst/>
          </a:prstGeom>
          <a:noFill/>
        </p:spPr>
        <p:txBody>
          <a:bodyPr wrap="square" lIns="0" tIns="0" rIns="0" bIns="0" anchor="t">
            <a:noAutofit/>
          </a:bodyPr>
          <a:lstStyle/>
          <a:p>
            <a:pPr algn="r">
              <a:spcAft>
                <a:spcPts val="0"/>
              </a:spcAft>
            </a:pPr>
            <a:r>
              <a:rPr lang="ko-KR" sz="1150" b="0">
                <a:solidFill>
                  <a:srgbClr val="A39E98"/>
                </a:solidFill>
                <a:latin typeface="Paperlogy 4 Regular"/>
                <a:ea typeface="Paperlogy 4 Regular"/>
                <a:cs typeface="Paperlogy 4 Regular"/>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13183"/>
        </a:solidFill>
        <a:effectLst/>
      </p:bgPr>
    </p:bg>
    <p:spTree>
      <p:nvGrpSpPr>
        <p:cNvPr id="1" name=""/>
        <p:cNvGrpSpPr/>
        <p:nvPr/>
      </p:nvGrpSpPr>
      <p:grpSpPr>
        <a:xfrm>
          <a:off x="0" y="0"/>
          <a:ext cx="0" cy="0"/>
          <a:chOff x="0" y="0"/>
          <a:chExt cx="0" cy="0"/>
        </a:xfrm>
      </p:grpSpPr>
      <p:sp>
        <p:nvSpPr>
          <p:cNvPr id="2" name="Rounded Rectangle 1"/>
          <p:cNvSpPr/>
          <p:nvPr/>
        </p:nvSpPr>
        <p:spPr>
          <a:xfrm>
            <a:off x="548640" y="384048"/>
            <a:ext cx="420624" cy="420624"/>
          </a:xfrm>
          <a:prstGeom prst="roundRect">
            <a:avLst>
              <a:gd name="adj" fmla="val 27499"/>
            </a:avLst>
          </a:prstGeom>
          <a:solidFill>
            <a:srgbClr val="9FE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53796" y="657453"/>
            <a:ext cx="105155"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53796" y="568071"/>
            <a:ext cx="157734"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3796" y="478688"/>
            <a:ext cx="210311" cy="52577"/>
          </a:xfrm>
          <a:prstGeom prst="roundRect">
            <a:avLst>
              <a:gd name="adj" fmla="val 50000"/>
            </a:avLst>
          </a:prstGeom>
          <a:solidFill>
            <a:srgbClr val="16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384048"/>
            <a:ext cx="1737360" cy="420624"/>
          </a:xfrm>
          <a:prstGeom prst="roundRect">
            <a:avLst>
              <a:gd name="adj" fmla="val 21739"/>
            </a:avLst>
          </a:prstGeom>
          <a:noFill/>
          <a:ln w="9525">
            <a:solidFill>
              <a:srgbClr val="A9B2DE"/>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150" b="0">
                <a:solidFill>
                  <a:srgbClr val="A9B2DE"/>
                </a:solidFill>
                <a:latin typeface="Paperlogy 4 Regular"/>
                <a:ea typeface="Paperlogy 4 Regular"/>
                <a:cs typeface="Paperlogy 4 Regular"/>
              </a:rPr>
              <a:t>워드마크 · 서체 미정</a:t>
            </a:r>
          </a:p>
        </p:txBody>
      </p:sp>
      <p:sp>
        <p:nvSpPr>
          <p:cNvPr id="7" name="TextBox 6"/>
          <p:cNvSpPr txBox="1"/>
          <p:nvPr/>
        </p:nvSpPr>
        <p:spPr>
          <a:xfrm>
            <a:off x="548640" y="1920240"/>
            <a:ext cx="7498079" cy="320040"/>
          </a:xfrm>
          <a:prstGeom prst="rect">
            <a:avLst/>
          </a:prstGeom>
          <a:noFill/>
        </p:spPr>
        <p:txBody>
          <a:bodyPr wrap="square" lIns="0" tIns="0" rIns="0" bIns="0" anchor="t">
            <a:noAutofit/>
          </a:bodyPr>
          <a:lstStyle/>
          <a:p>
            <a:pPr algn="l">
              <a:spcAft>
                <a:spcPts val="0"/>
              </a:spcAft>
            </a:pPr>
            <a:r>
              <a:rPr lang="ko-KR" sz="1200" b="0" spc="10">
                <a:solidFill>
                  <a:srgbClr val="62AEF0"/>
                </a:solidFill>
                <a:latin typeface="Paperlogy 6 SemiBold"/>
                <a:ea typeface="Paperlogy 6 SemiBold"/>
                <a:cs typeface="Paperlogy 6 SemiBold"/>
              </a:rPr>
              <a:t>감사합니다</a:t>
            </a:r>
          </a:p>
        </p:txBody>
      </p:sp>
      <p:sp>
        <p:nvSpPr>
          <p:cNvPr id="8" name="TextBox 7"/>
          <p:cNvSpPr txBox="1"/>
          <p:nvPr/>
        </p:nvSpPr>
        <p:spPr>
          <a:xfrm>
            <a:off x="548640" y="2331720"/>
            <a:ext cx="7498079" cy="1737360"/>
          </a:xfrm>
          <a:prstGeom prst="rect">
            <a:avLst/>
          </a:prstGeom>
          <a:noFill/>
        </p:spPr>
        <p:txBody>
          <a:bodyPr wrap="square" lIns="0" tIns="0" rIns="0" bIns="0" anchor="t">
            <a:noAutofit/>
          </a:bodyPr>
          <a:lstStyle/>
          <a:p>
            <a:pPr algn="l">
              <a:lnSpc>
                <a:spcPct val="105000"/>
              </a:lnSpc>
              <a:spcAft>
                <a:spcPts val="0"/>
              </a:spcAft>
            </a:pPr>
            <a:r>
              <a:rPr lang="ko-KR" sz="6000" b="0" spc="-150">
                <a:solidFill>
                  <a:srgbClr val="FFFFFF"/>
                </a:solidFill>
                <a:latin typeface="Paperlogy 7 Bold"/>
                <a:ea typeface="Paperlogy 7 Bold"/>
                <a:cs typeface="Paperlogy 7 Bold"/>
              </a:rPr>
              <a:t>첫 칸을</a:t>
            </a:r>
          </a:p>
          <a:p>
            <a:pPr algn="l">
              <a:lnSpc>
                <a:spcPct val="105000"/>
              </a:lnSpc>
              <a:spcAft>
                <a:spcPts val="0"/>
              </a:spcAft>
            </a:pPr>
            <a:r>
              <a:rPr lang="ko-KR" sz="6000" b="0" spc="-150">
                <a:solidFill>
                  <a:srgbClr val="FFFFFF"/>
                </a:solidFill>
                <a:latin typeface="Paperlogy 7 Bold"/>
                <a:ea typeface="Paperlogy 7 Bold"/>
                <a:cs typeface="Paperlogy 7 Bold"/>
              </a:rPr>
              <a:t>함께 놓아요</a:t>
            </a:r>
          </a:p>
        </p:txBody>
      </p:sp>
      <p:sp>
        <p:nvSpPr>
          <p:cNvPr id="9" name="TextBox 8"/>
          <p:cNvSpPr txBox="1"/>
          <p:nvPr/>
        </p:nvSpPr>
        <p:spPr>
          <a:xfrm>
            <a:off x="548640" y="4224528"/>
            <a:ext cx="7498079" cy="365760"/>
          </a:xfrm>
          <a:prstGeom prst="rect">
            <a:avLst/>
          </a:prstGeom>
          <a:noFill/>
        </p:spPr>
        <p:txBody>
          <a:bodyPr wrap="square" lIns="0" tIns="0" rIns="0" bIns="0" anchor="t">
            <a:noAutofit/>
          </a:bodyPr>
          <a:lstStyle/>
          <a:p>
            <a:pPr algn="l">
              <a:spcAft>
                <a:spcPts val="0"/>
              </a:spcAft>
            </a:pPr>
            <a:r>
              <a:rPr lang="ko-KR" sz="1900" b="0" spc="-20">
                <a:solidFill>
                  <a:srgbClr val="D9DDF2"/>
                </a:solidFill>
                <a:latin typeface="Paperlogy 7 Bold"/>
                <a:ea typeface="Paperlogy 7 Bold"/>
                <a:cs typeface="Paperlogy 7 Bold"/>
              </a:rPr>
              <a:t>예시 계정으로 로그인 없이 바로 써 볼 수 있습니다</a:t>
            </a:r>
          </a:p>
        </p:txBody>
      </p:sp>
      <p:sp>
        <p:nvSpPr>
          <p:cNvPr id="10" name="Rounded Rectangle 9"/>
          <p:cNvSpPr/>
          <p:nvPr/>
        </p:nvSpPr>
        <p:spPr>
          <a:xfrm>
            <a:off x="548640" y="4937760"/>
            <a:ext cx="1920240" cy="475488"/>
          </a:xfrm>
          <a:prstGeom prst="roundRect">
            <a:avLst>
              <a:gd name="adj" fmla="val 50000"/>
            </a:avLst>
          </a:prstGeom>
          <a:solidFill>
            <a:srgbClr val="0075D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500" b="0">
                <a:solidFill>
                  <a:srgbClr val="FFFFFF"/>
                </a:solidFill>
                <a:latin typeface="Paperlogy 5 Medium"/>
                <a:ea typeface="Paperlogy 5 Medium"/>
                <a:cs typeface="Paperlogy 5 Medium"/>
              </a:rPr>
              <a:t>사다리 체험하기</a:t>
            </a:r>
          </a:p>
        </p:txBody>
      </p:sp>
      <p:sp>
        <p:nvSpPr>
          <p:cNvPr id="11" name="Rounded Rectangle 10"/>
          <p:cNvSpPr/>
          <p:nvPr/>
        </p:nvSpPr>
        <p:spPr>
          <a:xfrm>
            <a:off x="2606040" y="4937760"/>
            <a:ext cx="1737360" cy="475488"/>
          </a:xfrm>
          <a:prstGeom prst="roundRect">
            <a:avLst>
              <a:gd name="adj" fmla="val 50000"/>
            </a:avLst>
          </a:prstGeom>
          <a:solidFill>
            <a:srgbClr val="FFFFFF"/>
          </a:solidFill>
          <a:ln>
            <a:noFill/>
          </a:ln>
          <a:effectLst>
            <a:outerShdw blurRad="152400" dist="25400" dir="5400000" algn="t" rotWithShape="0">
              <a:srgbClr val="000000">
                <a:alpha val="7000"/>
              </a:srgbClr>
            </a:outerShdw>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lang="ko-KR" sz="1500" b="0">
                <a:solidFill>
                  <a:srgbClr val="111111"/>
                </a:solidFill>
                <a:latin typeface="Paperlogy 5 Medium"/>
                <a:ea typeface="Paperlogy 5 Medium"/>
                <a:cs typeface="Paperlogy 5 Medium"/>
              </a:rPr>
              <a:t>GitHub 저장소</a:t>
            </a:r>
          </a:p>
        </p:txBody>
      </p:sp>
      <p:sp>
        <p:nvSpPr>
          <p:cNvPr id="12" name="TextBox 11"/>
          <p:cNvSpPr txBox="1"/>
          <p:nvPr/>
        </p:nvSpPr>
        <p:spPr>
          <a:xfrm>
            <a:off x="548640" y="5852160"/>
            <a:ext cx="7315200" cy="274320"/>
          </a:xfrm>
          <a:prstGeom prst="rect">
            <a:avLst/>
          </a:prstGeom>
          <a:noFill/>
        </p:spPr>
        <p:txBody>
          <a:bodyPr wrap="square" lIns="0" tIns="0" rIns="0" bIns="0" anchor="t">
            <a:noAutofit/>
          </a:bodyPr>
          <a:lstStyle/>
          <a:p>
            <a:pPr algn="l">
              <a:spcAft>
                <a:spcPts val="0"/>
              </a:spcAft>
            </a:pPr>
            <a:r>
              <a:rPr lang="ko-KR" sz="1300" b="0">
                <a:solidFill>
                  <a:srgbClr val="A9B2DE"/>
                </a:solidFill>
                <a:latin typeface="Paperlogy 4 Regular"/>
                <a:ea typeface="Paperlogy 4 Regular"/>
                <a:cs typeface="Paperlogy 4 Regular"/>
              </a:rPr>
              <a:t>Q&amp;A  ·  배포 URL과 저장소 주소는 제출 전에 기재</a:t>
            </a:r>
          </a:p>
        </p:txBody>
      </p:sp>
      <p:sp>
        <p:nvSpPr>
          <p:cNvPr id="13" name="Rounded Rectangle 12"/>
          <p:cNvSpPr/>
          <p:nvPr/>
        </p:nvSpPr>
        <p:spPr>
          <a:xfrm>
            <a:off x="8902598"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729569" y="685800"/>
            <a:ext cx="118872" cy="5486400"/>
          </a:xfrm>
          <a:prstGeom prst="roundRect">
            <a:avLst>
              <a:gd name="adj" fmla="val 50000"/>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856878" y="5424054"/>
            <a:ext cx="2037283" cy="155448"/>
          </a:xfrm>
          <a:prstGeom prst="roundRect">
            <a:avLst>
              <a:gd name="adj" fmla="val 50000"/>
            </a:avLst>
          </a:prstGeom>
          <a:solidFill>
            <a:srgbClr val="D6B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856878" y="4592781"/>
            <a:ext cx="2037283" cy="155448"/>
          </a:xfrm>
          <a:prstGeom prst="roundRect">
            <a:avLst>
              <a:gd name="adj" fmla="val 50000"/>
            </a:avLst>
          </a:prstGeom>
          <a:solidFill>
            <a:srgbClr val="FF6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856878" y="3761509"/>
            <a:ext cx="2037283" cy="155448"/>
          </a:xfrm>
          <a:prstGeom prst="roundRect">
            <a:avLst>
              <a:gd name="adj" fmla="val 50000"/>
            </a:avLst>
          </a:prstGeom>
          <a:solidFill>
            <a:srgbClr val="DD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56878" y="2930236"/>
            <a:ext cx="2037283" cy="155448"/>
          </a:xfrm>
          <a:prstGeom prst="roundRect">
            <a:avLst>
              <a:gd name="adj" fmla="val 50000"/>
            </a:avLst>
          </a:prstGeom>
          <a:solidFill>
            <a:srgbClr val="2A9D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856878" y="2098963"/>
            <a:ext cx="2037283" cy="155448"/>
          </a:xfrm>
          <a:prstGeom prst="roundRect">
            <a:avLst>
              <a:gd name="adj" fmla="val 50000"/>
            </a:avLst>
          </a:prstGeom>
          <a:solidFill>
            <a:srgbClr val="1AA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856878" y="1267690"/>
            <a:ext cx="2037283" cy="155448"/>
          </a:xfrm>
          <a:prstGeom prst="roundRect">
            <a:avLst>
              <a:gd name="adj" fmla="val 50000"/>
            </a:avLst>
          </a:prstGeom>
          <a:solidFill>
            <a:srgbClr val="62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311896" y="1124712"/>
            <a:ext cx="64008" cy="64008"/>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334902" y="1344168"/>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07654" y="37033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508638" y="3154680"/>
            <a:ext cx="73152" cy="73152"/>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85632" y="5788152"/>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195913" y="534924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875520" y="795528"/>
            <a:ext cx="54864" cy="5486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92486" y="6007608"/>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354312" y="2880360"/>
            <a:ext cx="36576" cy="36576"/>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570464" y="2331720"/>
            <a:ext cx="45720" cy="45720"/>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195913" y="960120"/>
            <a:ext cx="384048" cy="384048"/>
          </a:xfrm>
          <a:prstGeom prst="ellipse">
            <a:avLst/>
          </a:prstGeom>
          <a:solidFill>
            <a:srgbClr val="62AEF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138160" y="4800600"/>
            <a:ext cx="274320" cy="274320"/>
          </a:xfrm>
          <a:prstGeom prst="ellipse">
            <a:avLst/>
          </a:prstGeom>
          <a:solidFill>
            <a:srgbClr val="FF64C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439144" y="4251960"/>
            <a:ext cx="201168" cy="201168"/>
          </a:xfrm>
          <a:prstGeom prst="ellipse">
            <a:avLst/>
          </a:prstGeom>
          <a:solidFill>
            <a:srgbClr val="D6B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aperlogy 7 Bold"/>
        <a:ea typeface="Paperlogy 7 Bold"/>
        <a:cs typeface="Paperlogy 7 Bold"/>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perlogy 4 Regular"/>
        <a:ea typeface="Paperlogy 4 Regular"/>
        <a:cs typeface="Paperlogy 4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2634</Words>
  <Application>Microsoft Office PowerPoint</Application>
  <PresentationFormat>와이드스크린</PresentationFormat>
  <Paragraphs>395</Paragraphs>
  <Slides>17</Slides>
  <Notes>17</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17</vt:i4>
      </vt:variant>
    </vt:vector>
  </HeadingPairs>
  <TitlesOfParts>
    <vt:vector size="24" baseType="lpstr">
      <vt:lpstr>Paperlogy 6 SemiBold</vt:lpstr>
      <vt:lpstr>Paperlogy 4 Regular</vt:lpstr>
      <vt:lpstr>Paperlogy 8 ExtraBold</vt:lpstr>
      <vt:lpstr>Paperlogy 7 Bold</vt:lpstr>
      <vt:lpstr>Paperlogy 5 Medium</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세훈 박</cp:lastModifiedBy>
  <cp:revision>2</cp:revision>
  <dcterms:created xsi:type="dcterms:W3CDTF">2013-01-27T09:14:16Z</dcterms:created>
  <dcterms:modified xsi:type="dcterms:W3CDTF">2026-10-01T02:24:00Z</dcterms:modified>
  <cp:category/>
</cp:coreProperties>
</file>